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handoutMasters/handoutMaster1.xml" ContentType="application/vnd.openxmlformats-officedocument.presentationml.handoutMaster+xml"/>
  <Override PartName="/ppt/media/image10.svg" ContentType="image/svg+xml"/>
  <Override PartName="/ppt/media/image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handoutMasterIdLst>
    <p:handoutMasterId r:id="rId28"/>
  </p:handoutMasterIdLst>
  <p:sldIdLst>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82" d="100"/>
          <a:sy n="82" d="100"/>
        </p:scale>
        <p:origin x="720" y="53"/>
      </p:cViewPr>
      <p:guideLst/>
    </p:cSldViewPr>
  </p:slideViewPr>
  <p:notesTextViewPr>
    <p:cViewPr>
      <p:scale>
        <a:sx n="1" d="1"/>
        <a:sy n="1" d="1"/>
      </p:scale>
      <p:origin x="0" y="0"/>
    </p:cViewPr>
  </p:notesTextViewPr>
  <p:notesViewPr>
    <p:cSldViewPr snapToGrid="0">
      <p:cViewPr varScale="1">
        <p:scale>
          <a:sx n="58" d="100"/>
          <a:sy n="58" d="100"/>
        </p:scale>
        <p:origin x="2965" y="4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14" Type="http://schemas.openxmlformats.org/officeDocument/2006/relationships/notesMaster" Target="notesMasters/notesMaster1.xml"/><Relationship Id="rId28" Type="http://schemas.openxmlformats.org/officeDocument/2006/relationships/handoutMaster" Target="handoutMasters/handout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ableStyles" Target="tableStyles.xml"/><Relationship Id="rId32" Type="http://schemas.openxmlformats.org/officeDocument/2006/relationships/customXml" Target="../customXml/item1.xml"/><Relationship Id="rId33" Type="http://schemas.openxmlformats.org/officeDocument/2006/relationships/customXml" Target="../customXml/item2.xml"/><Relationship Id="rId34" Type="http://schemas.openxmlformats.org/officeDocument/2006/relationships/customXml" Target="../customXml/item3.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Passed</c:v>
                </c:pt>
              </c:strCache>
            </c:strRef>
          </c:tx>
          <c:spPr>
            <a:solidFill>
              <a:srgbClr val="34ABA2"/>
            </a:solidFill>
          </c:spPr>
          <c:cat>
            <c:strRef>
              <c:f>Sheet1!$A$2:$A$12</c:f>
              <c:strCache>
                <c:ptCount val="11"/>
                <c:pt idx="0">
                  <c:v>Registration</c:v>
                </c:pt>
                <c:pt idx="1">
                  <c:v>OTP Verification</c:v>
                </c:pt>
                <c:pt idx="2">
                  <c:v>Login</c:v>
                </c:pt>
                <c:pt idx="3">
                  <c:v>Forgot Password</c:v>
                </c:pt>
                <c:pt idx="4">
                  <c:v>Reset Password</c:v>
                </c:pt>
                <c:pt idx="5">
                  <c:v>Update Profile</c:v>
                </c:pt>
                <c:pt idx="6">
                  <c:v>Send Friend Request</c:v>
                </c:pt>
                <c:pt idx="7">
                  <c:v>Accept / Reject Request</c:v>
                </c:pt>
                <c:pt idx="8">
                  <c:v>Search User</c:v>
                </c:pt>
                <c:pt idx="9">
                  <c:v>One-to-One Chat</c:v>
                </c:pt>
                <c:pt idx="10">
                  <c:v>Send Image</c:v>
                </c:pt>
              </c:strCache>
            </c:strRef>
          </c:cat>
          <c:val>
            <c:numRef>
              <c:f>Sheet1!$B$2:$B$12</c:f>
              <c:numCache>
                <c:formatCode>General</c:formatCode>
                <c:ptCount val="11"/>
                <c:pt idx="0">
                  <c:v>4</c:v>
                </c:pt>
                <c:pt idx="1">
                  <c:v>2</c:v>
                </c:pt>
                <c:pt idx="2">
                  <c:v>4</c:v>
                </c:pt>
                <c:pt idx="3">
                  <c:v>2</c:v>
                </c:pt>
                <c:pt idx="4">
                  <c:v>2</c:v>
                </c:pt>
                <c:pt idx="5">
                  <c:v>1</c:v>
                </c:pt>
                <c:pt idx="6">
                  <c:v>2</c:v>
                </c:pt>
                <c:pt idx="7">
                  <c:v>2</c:v>
                </c:pt>
                <c:pt idx="8">
                  <c:v>1</c:v>
                </c:pt>
                <c:pt idx="9">
                  <c:v>1</c:v>
                </c:pt>
                <c:pt idx="10">
                  <c:v>1</c:v>
                </c:pt>
              </c:numCache>
            </c:numRef>
          </c:val>
        </c:ser>
        <c:ser>
          <c:idx val="1"/>
          <c:order val="1"/>
          <c:tx>
            <c:strRef>
              <c:f>Sheet1!$C$1</c:f>
              <c:strCache>
                <c:ptCount val="1"/>
                <c:pt idx="0">
                  <c:v>Failed</c:v>
                </c:pt>
              </c:strCache>
            </c:strRef>
          </c:tx>
          <c:spPr>
            <a:solidFill>
              <a:srgbClr val="C0504D"/>
            </a:solidFill>
          </c:spPr>
          <c:cat>
            <c:strRef>
              <c:f>Sheet1!$A$2:$A$12</c:f>
              <c:strCache>
                <c:ptCount val="11"/>
                <c:pt idx="0">
                  <c:v>Registration</c:v>
                </c:pt>
                <c:pt idx="1">
                  <c:v>OTP Verification</c:v>
                </c:pt>
                <c:pt idx="2">
                  <c:v>Login</c:v>
                </c:pt>
                <c:pt idx="3">
                  <c:v>Forgot Password</c:v>
                </c:pt>
                <c:pt idx="4">
                  <c:v>Reset Password</c:v>
                </c:pt>
                <c:pt idx="5">
                  <c:v>Update Profile</c:v>
                </c:pt>
                <c:pt idx="6">
                  <c:v>Send Friend Request</c:v>
                </c:pt>
                <c:pt idx="7">
                  <c:v>Accept / Reject Request</c:v>
                </c:pt>
                <c:pt idx="8">
                  <c:v>Search User</c:v>
                </c:pt>
                <c:pt idx="9">
                  <c:v>One-to-One Chat</c:v>
                </c:pt>
                <c:pt idx="10">
                  <c:v>Send Image</c:v>
                </c:pt>
              </c:strCache>
            </c:strRef>
          </c:cat>
          <c:val>
            <c:numRef>
              <c:f>Sheet1!$C$2:$C$12</c:f>
              <c:numCache>
                <c:formatCode>General</c:formatCode>
                <c:ptCount val="11"/>
                <c:pt idx="0">
                  <c:v>1</c:v>
                </c:pt>
                <c:pt idx="1">
                  <c:v>1</c:v>
                </c:pt>
                <c:pt idx="2">
                  <c:v>1</c:v>
                </c:pt>
                <c:pt idx="3">
                  <c:v>0</c:v>
                </c:pt>
                <c:pt idx="4">
                  <c:v>1</c:v>
                </c:pt>
                <c:pt idx="5">
                  <c:v>1</c:v>
                </c:pt>
                <c:pt idx="6">
                  <c:v>1</c:v>
                </c:pt>
                <c:pt idx="7">
                  <c:v>0</c:v>
                </c:pt>
                <c:pt idx="8">
                  <c:v>1</c:v>
                </c:pt>
                <c:pt idx="9">
                  <c:v>1</c:v>
                </c:pt>
                <c:pt idx="10">
                  <c:v>1</c:v>
                </c:pt>
              </c:numCache>
            </c:numRef>
          </c:val>
        </c:ser>
        <c:dLbls>
          <c:numFmt formatCode="0;;;" sourceLinked="0"/>
          <c:txPr>
            <a:bodyPr/>
            <a:lstStyle/>
            <a:p>
              <a:pPr>
                <a:defRPr sz="1100" b="1">
                  <a:solidFill>
                    <a:srgbClr val="FFFFFF"/>
                  </a:solidFill>
                </a:defRPr>
              </a:pPr>
            </a:p>
          </c:txPr>
          <c:dLblPos val="ctr"/>
          <c:showLegendKey val="0"/>
          <c:showVal val="1"/>
          <c:showCatName val="0"/>
          <c:showSerName val="0"/>
          <c:showPercent val="0"/>
          <c:showBubbleSize val="0"/>
          <c:showLeaderLines val="1"/>
        </c:dLbls>
        <c:gapWidth val="45"/>
        <c:overlap val="100"/>
        <c:axId val="-2068027336"/>
        <c:axId val="-2113994440"/>
      </c:barChart>
      <c:catAx>
        <c:axId val="-2068027336"/>
        <c:scaling>
          <c:orientation val="maxMin"/>
        </c:scaling>
        <c:delete val="0"/>
        <c:axPos val="l"/>
        <c:majorTickMark val="out"/>
        <c:minorTickMark val="none"/>
        <c:tickLblPos val="nextTo"/>
        <c:spPr>
          <a:ln>
            <a:solidFill>
              <a:srgbClr val="999999"/>
            </a:solidFill>
          </a:ln>
        </c:spPr>
        <c:txPr>
          <a:bodyPr/>
          <a:lstStyle/>
          <a:p>
            <a:pPr>
              <a:defRPr sz="11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B9B822C-711C-423E-851C-7F2FCF70CF74}"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0EE09C4-05F2-4210-9799-59B976D6157E}"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9D9F2A-3B57-42DF-B014-1B75AB05F0DE}" type="datetimeFigureOut">
              <a:rPr lang="en-US" smtClean="0"/>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3FB8A0-E701-47A0-967E-A6B83C7F0A58}"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9.png"/><Relationship Id="rId5" Type="http://schemas.openxmlformats.org/officeDocument/2006/relationships/image" Target="../media/image10.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65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0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E2AB48-6B81-443C-84F0-8098475CA912}"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0E9ABD0-655E-4203-B2D8-6AEABBAE044C}" type="slidenum">
              <a:rPr lang="en-US" smtClean="0"/>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8713" y="5486400"/>
            <a:ext cx="12204696" cy="1386478"/>
            <a:chOff x="-8713" y="5486400"/>
            <a:chExt cx="12204696" cy="1386478"/>
          </a:xfrm>
        </p:grpSpPr>
        <p:pic>
          <p:nvPicPr>
            <p:cNvPr id="11" name="Graphic 10"/>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713" y="5494973"/>
              <a:ext cx="12200714" cy="1362075"/>
            </a:xfrm>
            <a:prstGeom prst="rect">
              <a:avLst/>
            </a:prstGeom>
          </p:spPr>
        </p:pic>
        <p:pic>
          <p:nvPicPr>
            <p:cNvPr id="12" name="Graphic 1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10150" y="5486400"/>
              <a:ext cx="7185833" cy="1386478"/>
            </a:xfrm>
            <a:prstGeom prst="rect">
              <a:avLst/>
            </a:prstGeom>
          </p:spPr>
        </p:pic>
        <p:pic>
          <p:nvPicPr>
            <p:cNvPr id="13" name="Graphic 12"/>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0" y="5556446"/>
              <a:ext cx="11658600" cy="1301554"/>
            </a:xfrm>
            <a:prstGeom prst="rect">
              <a:avLst/>
            </a:prstGeom>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9E2AB48-6B81-443C-84F0-8098475CA912}"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0E9ABD0-655E-4203-B2D8-6AEABBAE044C}"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9E2AB48-6B81-443C-84F0-8098475CA912}"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0E9ABD0-655E-4203-B2D8-6AEABBAE044C}" type="slidenum">
              <a:rPr lang="en-US" smtClean="0"/>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11"/>
          <p:cNvGrpSpPr/>
          <p:nvPr userDrawn="1"/>
        </p:nvGrpSpPr>
        <p:grpSpPr>
          <a:xfrm>
            <a:off x="-8713" y="5486400"/>
            <a:ext cx="12204696" cy="1386478"/>
            <a:chOff x="-8713" y="5486400"/>
            <a:chExt cx="12204696" cy="1386478"/>
          </a:xfrm>
        </p:grpSpPr>
        <p:pic>
          <p:nvPicPr>
            <p:cNvPr id="13" name="Graphic 12"/>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713" y="5494973"/>
              <a:ext cx="12200714" cy="1362075"/>
            </a:xfrm>
            <a:prstGeom prst="rect">
              <a:avLst/>
            </a:prstGeom>
          </p:spPr>
        </p:pic>
        <p:pic>
          <p:nvPicPr>
            <p:cNvPr id="14" name="Graphic 13"/>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10150" y="5486400"/>
              <a:ext cx="7185833" cy="1386478"/>
            </a:xfrm>
            <a:prstGeom prst="rect">
              <a:avLst/>
            </a:prstGeom>
          </p:spPr>
        </p:pic>
        <p:pic>
          <p:nvPicPr>
            <p:cNvPr id="15" name="Graphic 14"/>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0" y="5556446"/>
              <a:ext cx="11658600" cy="1301554"/>
            </a:xfrm>
            <a:prstGeom prst="rect">
              <a:avLst/>
            </a:prstGeom>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B9E2AB48-6B81-443C-84F0-8098475CA912}"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0E9ABD0-655E-4203-B2D8-6AEABBAE044C}"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9E2AB48-6B81-443C-84F0-8098475CA912}"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A0E9ABD0-655E-4203-B2D8-6AEABBAE044C}"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E2AB48-6B81-443C-84F0-8098475CA912}"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0E9ABD0-655E-4203-B2D8-6AEABBAE044C}" type="slidenum">
              <a:rPr lang="en-US" smtClean="0"/>
            </a:fld>
            <a:endParaRPr lang="en-US" dirty="0"/>
          </a:p>
        </p:txBody>
      </p:sp>
      <p:sp>
        <p:nvSpPr>
          <p:cNvPr id="6" name="Text Placeholder 2"/>
          <p:cNvSpPr>
            <a:spLocks noGrp="1"/>
          </p:cNvSpPr>
          <p:nvPr>
            <p:ph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userDrawn="1">
  <p:cSld name="Content with Caption">
    <p:spTree>
      <p:nvGrpSpPr>
        <p:cNvPr id="1" name=""/>
        <p:cNvGrpSpPr/>
        <p:nvPr/>
      </p:nvGrpSpPr>
      <p:grpSpPr>
        <a:xfrm>
          <a:off x="0" y="0"/>
          <a:ext cx="0" cy="0"/>
          <a:chOff x="0" y="0"/>
          <a:chExt cx="0" cy="0"/>
        </a:xfrm>
      </p:grpSpPr>
      <p:grpSp>
        <p:nvGrpSpPr>
          <p:cNvPr id="27" name="Group 26"/>
          <p:cNvGrpSpPr/>
          <p:nvPr userDrawn="1"/>
        </p:nvGrpSpPr>
        <p:grpSpPr>
          <a:xfrm rot="5400000">
            <a:off x="-2191122" y="2163412"/>
            <a:ext cx="6945333" cy="2618508"/>
            <a:chOff x="4" y="2981324"/>
            <a:chExt cx="12226464" cy="1367657"/>
          </a:xfrm>
        </p:grpSpPr>
        <p:pic>
          <p:nvPicPr>
            <p:cNvPr id="28" name="Graphic 2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 y="2981324"/>
              <a:ext cx="12191995" cy="1361101"/>
            </a:xfrm>
            <a:prstGeom prst="rect">
              <a:avLst/>
            </a:prstGeom>
          </p:spPr>
        </p:pic>
        <p:pic>
          <p:nvPicPr>
            <p:cNvPr id="29" name="Graphic 2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a:off x="4" y="2987880"/>
              <a:ext cx="12191995" cy="1361101"/>
            </a:xfrm>
            <a:prstGeom prst="rect">
              <a:avLst/>
            </a:prstGeom>
          </p:spPr>
        </p:pic>
        <p:pic>
          <p:nvPicPr>
            <p:cNvPr id="30" name="Graphic 29"/>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890618" y="2987879"/>
              <a:ext cx="7335850" cy="1354545"/>
            </a:xfrm>
            <a:prstGeom prst="rect">
              <a:avLst/>
            </a:prstGeom>
          </p:spPr>
        </p:pic>
      </p:grpSp>
      <p:sp>
        <p:nvSpPr>
          <p:cNvPr id="3" name="Content Placeholder 2"/>
          <p:cNvSpPr>
            <a:spLocks noGrp="1"/>
          </p:cNvSpPr>
          <p:nvPr>
            <p:ph idx="1"/>
          </p:nvPr>
        </p:nvSpPr>
        <p:spPr>
          <a:xfrm>
            <a:off x="5533292" y="738553"/>
            <a:ext cx="5931877" cy="491196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9E2AB48-6B81-443C-84F0-8098475CA912}" type="datetimeFigureOut">
              <a:rPr lang="en-US" smtClean="0"/>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0E9ABD0-655E-4203-B2D8-6AEABBAE044C}" type="slidenum">
              <a:rPr lang="en-US" smtClean="0"/>
            </a:fld>
            <a:endParaRPr lang="en-US" dirty="0"/>
          </a:p>
        </p:txBody>
      </p:sp>
      <p:cxnSp>
        <p:nvCxnSpPr>
          <p:cNvPr id="34" name="Straight Connector 33"/>
          <p:cNvCxnSpPr/>
          <p:nvPr userDrawn="1"/>
        </p:nvCxnSpPr>
        <p:spPr>
          <a:xfrm>
            <a:off x="671247" y="2531221"/>
            <a:ext cx="2080916"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47" name="Title 1"/>
          <p:cNvSpPr>
            <a:spLocks noGrp="1"/>
          </p:cNvSpPr>
          <p:nvPr>
            <p:ph type="title"/>
          </p:nvPr>
        </p:nvSpPr>
        <p:spPr>
          <a:xfrm>
            <a:off x="586981" y="948681"/>
            <a:ext cx="4784947" cy="1358539"/>
          </a:xfrm>
        </p:spPr>
        <p:txBody>
          <a:bodyPr anchor="b">
            <a:normAutofit/>
          </a:bodyPr>
          <a:lstStyle>
            <a:lvl1pPr>
              <a:defRPr sz="3600" b="0">
                <a:solidFill>
                  <a:schemeClr val="tx2"/>
                </a:solidFill>
              </a:defRPr>
            </a:lvl1pPr>
          </a:lstStyle>
          <a:p>
            <a:r>
              <a:rPr lang="en-US"/>
              <a:t>Click to edit Master title style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9E2AB48-6B81-443C-84F0-8098475CA912}"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0E9ABD0-655E-4203-B2D8-6AEABBAE044C}"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image" Target="../media/image7.png"/><Relationship Id="rId10" Type="http://schemas.openxmlformats.org/officeDocument/2006/relationships/image" Target="../media/image8.svg"/><Relationship Id="rId11" Type="http://schemas.openxmlformats.org/officeDocument/2006/relationships/image" Target="../media/image9.png"/><Relationship Id="rId12" Type="http://schemas.openxmlformats.org/officeDocument/2006/relationships/image" Target="../media/image10.svg"/><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9E2AB48-6B81-443C-84F0-8098475CA912}" type="datetimeFigureOut">
              <a:rPr lang="en-US" smtClean="0"/>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0E9ABD0-655E-4203-B2D8-6AEABBAE044C}" type="slidenum">
              <a:rPr lang="en-US" smtClean="0"/>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p:cNvGrpSpPr/>
          <p:nvPr userDrawn="1"/>
        </p:nvGrpSpPr>
        <p:grpSpPr>
          <a:xfrm>
            <a:off x="4" y="5490343"/>
            <a:ext cx="12226464" cy="1367657"/>
            <a:chOff x="4" y="2981324"/>
            <a:chExt cx="12226464" cy="1367657"/>
          </a:xfrm>
        </p:grpSpPr>
        <p:pic>
          <p:nvPicPr>
            <p:cNvPr id="16" name="Graphic 15"/>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4" y="2981324"/>
              <a:ext cx="12191995" cy="1361101"/>
            </a:xfrm>
            <a:prstGeom prst="rect">
              <a:avLst/>
            </a:prstGeom>
          </p:spPr>
        </p:pic>
        <p:pic>
          <p:nvPicPr>
            <p:cNvPr id="17" name="Graphic 16"/>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flipH="1">
              <a:off x="4" y="2987880"/>
              <a:ext cx="12191995" cy="1361101"/>
            </a:xfrm>
            <a:prstGeom prst="rect">
              <a:avLst/>
            </a:prstGeom>
          </p:spPr>
        </p:pic>
        <p:pic>
          <p:nvPicPr>
            <p:cNvPr id="18" name="Graphic 17"/>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4890618" y="2987879"/>
              <a:ext cx="7335850" cy="1354545"/>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85000"/>
        </a:lnSpc>
        <a:spcBef>
          <a:spcPct val="0"/>
        </a:spcBef>
        <a:buNone/>
        <a:defRPr sz="2800" b="1"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1800" kern="1200">
          <a:solidFill>
            <a:schemeClr val="tx2"/>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600" kern="1200">
          <a:solidFill>
            <a:schemeClr val="tx2"/>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200" kern="1200">
          <a:solidFill>
            <a:schemeClr val="tx2"/>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200" kern="1200">
          <a:solidFill>
            <a:schemeClr val="tx2"/>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200" kern="1200">
          <a:solidFill>
            <a:schemeClr val="tx2"/>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jpeg"/><Relationship Id="rId5"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3"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3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3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3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3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3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4" Type="http://schemas.openxmlformats.org/officeDocument/2006/relationships/image" Target="../media/image3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4" Type="http://schemas.openxmlformats.org/officeDocument/2006/relationships/image" Target="../media/image3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4" Type="http://schemas.openxmlformats.org/officeDocument/2006/relationships/image" Target="../media/image4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4" Type="http://schemas.openxmlformats.org/officeDocument/2006/relationships/image" Target="../media/image4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4" Type="http://schemas.openxmlformats.org/officeDocument/2006/relationships/image" Target="../media/image4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 Id="rId3" Type="http://schemas.openxmlformats.org/officeDocument/2006/relationships/chart" Target="../charts/char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jpeg"/><Relationship Id="rId3" Type="http://schemas.openxmlformats.org/officeDocument/2006/relationships/image" Target="../media/image2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itle 3"/>
          <p:cNvSpPr>
            <a:spLocks noGrp="1"/>
          </p:cNvSpPr>
          <p:nvPr>
            <p:ph type="title"/>
          </p:nvPr>
        </p:nvSpPr>
        <p:spPr/>
        <p:txBody>
          <a:bodyPr>
            <a:noAutofit/>
          </a:bodyPr>
          <a:lstStyle/>
          <a:p>
            <a:pPr>
              <a:lnSpc>
                <a:spcPts val="4320"/>
              </a:lnSpc>
              <a:spcAft>
                <a:spcPts val="300"/>
              </a:spcAft>
            </a:pPr>
            <a:r>
              <a:rPr lang="en-US" sz="3200" b="1" spc="-10" dirty="0">
                <a:effectLst/>
                <a:latin typeface="Times New Roman Regular" panose="02020503050405090304"/>
                <a:ea typeface="Times New Roman" panose="02020503050405090304" pitchFamily="18" charset="0"/>
              </a:rPr>
              <a:t>Easly Chat Application</a:t>
            </a:r>
            <a:endParaRPr lang="en-US" sz="3200" b="1" spc="0" dirty="0"/>
          </a:p>
        </p:txBody>
      </p:sp>
      <p:sp>
        <p:nvSpPr>
          <p:cNvPr id="9" name="Rectangle 8"/>
          <p:cNvSpPr/>
          <p:nvPr/>
        </p:nvSpPr>
        <p:spPr>
          <a:xfrm>
            <a:off x="586981" y="2739075"/>
            <a:ext cx="4754880" cy="1198880"/>
          </a:xfrm>
          <a:prstGeom prst="rect">
            <a:avLst/>
          </a:prstGeom>
        </p:spPr>
        <p:txBody>
          <a:bodyPr wrap="square">
            <a:spAutoFit/>
          </a:bodyPr>
          <a:lstStyle/>
          <a:p>
            <a:pPr lvl="0"/>
            <a:r>
              <a:rPr lang="en-US" b="1" dirty="0">
                <a:solidFill>
                  <a:schemeClr val="tx2"/>
                </a:solidFill>
              </a:rPr>
              <a:t>Presented By</a:t>
            </a:r>
            <a:endParaRPr lang="en-US" b="1" dirty="0">
              <a:solidFill>
                <a:schemeClr val="tx2"/>
              </a:solidFill>
            </a:endParaRPr>
          </a:p>
          <a:p>
            <a:pPr lvl="0"/>
            <a:endParaRPr lang="en-US" dirty="0">
              <a:solidFill>
                <a:schemeClr val="tx2"/>
              </a:solidFill>
            </a:endParaRPr>
          </a:p>
          <a:p>
            <a:pPr lvl="0"/>
            <a:r>
              <a:rPr lang="en-US" dirty="0">
                <a:solidFill>
                  <a:schemeClr val="tx2"/>
                </a:solidFill>
                <a:effectLst/>
                <a:latin typeface="Times New Roman Regular" panose="02020503050405090304"/>
                <a:ea typeface="Times New Roman" panose="02020503050405090304" pitchFamily="18" charset="0"/>
              </a:rPr>
              <a:t>Krish Manavadariya  (25mca090)</a:t>
            </a:r>
            <a:endParaRPr lang="en-IN" dirty="0">
              <a:solidFill>
                <a:schemeClr val="tx2"/>
              </a:solidFill>
              <a:latin typeface="Times New Roman" panose="02020503050405090304" pitchFamily="18" charset="0"/>
              <a:ea typeface="Times New Roman" panose="02020503050405090304" pitchFamily="18" charset="0"/>
            </a:endParaRPr>
          </a:p>
          <a:p>
            <a:pPr lvl="0"/>
            <a:r>
              <a:rPr lang="en-US" dirty="0">
                <a:solidFill>
                  <a:schemeClr val="tx2"/>
                </a:solidFill>
                <a:effectLst/>
                <a:latin typeface="Times New Roman Regular" panose="02020503050405090304"/>
                <a:ea typeface="Times New Roman" panose="02020503050405090304" pitchFamily="18" charset="0"/>
              </a:rPr>
              <a:t>Ayaz Darjada  (25mca005)</a:t>
            </a:r>
            <a:endParaRPr lang="en-IN" dirty="0">
              <a:solidFill>
                <a:schemeClr val="tx2"/>
              </a:solidFill>
              <a:effectLst/>
              <a:latin typeface="Times New Roman" panose="02020503050405090304" pitchFamily="18" charset="0"/>
              <a:ea typeface="Times New Roman" panose="02020503050405090304" pitchFamily="18" charset="0"/>
            </a:endParaRPr>
          </a:p>
        </p:txBody>
      </p:sp>
      <p:sp>
        <p:nvSpPr>
          <p:cNvPr id="2" name="TextBox 1"/>
          <p:cNvSpPr txBox="1"/>
          <p:nvPr/>
        </p:nvSpPr>
        <p:spPr>
          <a:xfrm>
            <a:off x="585216" y="4160520"/>
            <a:ext cx="3638938" cy="337185"/>
          </a:xfrm>
          <a:prstGeom prst="rect">
            <a:avLst/>
          </a:prstGeom>
          <a:noFill/>
        </p:spPr>
        <p:txBody>
          <a:bodyPr wrap="square" rtlCol="0">
            <a:spAutoFit/>
          </a:bodyPr>
          <a:lstStyle/>
          <a:p>
            <a:r>
              <a:rPr lang="en-US" sz="1600" b="1" dirty="0">
                <a:solidFill>
                  <a:schemeClr val="tx2"/>
                </a:solidFill>
              </a:rPr>
              <a:t>Internal Guide : Mubina Malik</a:t>
            </a:r>
            <a:endParaRPr lang="en-IN" sz="1600" b="1" dirty="0">
              <a:solidFill>
                <a:schemeClr val="tx2"/>
              </a:solidFill>
            </a:endParaRPr>
          </a:p>
        </p:txBody>
      </p:sp>
      <p:pic>
        <p:nvPicPr>
          <p:cNvPr id="3" name="Picture 2" descr="Easly Chat Application image"/>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364655" y="87830"/>
            <a:ext cx="827345" cy="827345"/>
          </a:xfrm>
          <a:prstGeom prst="rect">
            <a:avLst/>
          </a:prstGeom>
          <a:noFill/>
          <a:ln>
            <a:noFill/>
          </a:ln>
        </p:spPr>
      </p:pic>
      <p:pic>
        <p:nvPicPr>
          <p:cNvPr id="5" name="Picture 4" descr="Easly Chat Application image"/>
          <p:cNvPicPr>
            <a:picLocks noChangeAspect="1"/>
          </p:cNvPicPr>
          <p:nvPr/>
        </p:nvPicPr>
        <p:blipFill>
          <a:blip r:embed="rId3"/>
          <a:stretch>
            <a:fillRect/>
          </a:stretch>
        </p:blipFill>
        <p:spPr>
          <a:xfrm>
            <a:off x="23521" y="84361"/>
            <a:ext cx="830814" cy="830814"/>
          </a:xfrm>
          <a:prstGeom prst="rect">
            <a:avLst/>
          </a:prstGeom>
        </p:spPr>
      </p:pic>
      <p:pic>
        <p:nvPicPr>
          <p:cNvPr id="1036" name="Picture 12" descr="Easly Chat Application image"/>
          <p:cNvPicPr>
            <a:picLocks noGrp="1" noChangeAspect="1" noChangeArrowheads="1"/>
          </p:cNvPicPr>
          <p:nvPr>
            <p:ph idx="1"/>
          </p:nvPr>
        </p:nvPicPr>
        <p:blipFill>
          <a:blip r:embed="rId5">
            <a:extLst>
              <a:ext uri="{28A0092B-C50C-407E-A947-70E740481C1C}">
                <a14:useLocalDpi xmlns:a14="http://schemas.microsoft.com/office/drawing/2010/main" val="0"/>
              </a:ext>
            </a:extLst>
          </a:blip>
          <a:stretch>
            <a:fillRect/>
          </a:stretch>
        </p:blipFill>
        <p:spPr bwMode="auto">
          <a:xfrm>
            <a:off x="6675120" y="2606040"/>
            <a:ext cx="4937760" cy="19990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p>
            <a:r>
              <a:rPr lang="en-US"/>
              <a:t>Topics</a:t>
            </a:r>
            <a:endParaRPr lang="en-US"/>
          </a:p>
        </p:txBody>
      </p:sp>
      <p:sp>
        <p:nvSpPr>
          <p:cNvPr id="3" name="Content Placeholder 2"/>
          <p:cNvSpPr>
            <a:spLocks noGrp="1"/>
          </p:cNvSpPr>
          <p:nvPr>
            <p:ph idx="1"/>
          </p:nvPr>
        </p:nvSpPr>
        <p:spPr>
          <a:xfrm>
            <a:off x="1097280" y="1845945"/>
            <a:ext cx="10619105" cy="4752340"/>
          </a:xfrm>
        </p:spPr>
        <p:txBody>
          <a:bodyPr/>
          <a:p>
            <a:pPr marL="342900" indent="-342900">
              <a:buAutoNum type="arabicPeriod"/>
            </a:pPr>
            <a:r>
              <a:rPr lang="en-US" b="1">
                <a:sym typeface="+mn-ea"/>
              </a:rPr>
              <a:t>Project Profile</a:t>
            </a:r>
            <a:endParaRPr lang="en-US" b="1">
              <a:sym typeface="+mn-ea"/>
            </a:endParaRPr>
          </a:p>
          <a:p>
            <a:pPr marL="342900" indent="-342900">
              <a:buAutoNum type="arabicPeriod"/>
            </a:pPr>
            <a:r>
              <a:rPr lang="en-US" b="1">
                <a:sym typeface="+mn-ea"/>
              </a:rPr>
              <a:t>Introduction</a:t>
            </a:r>
            <a:endParaRPr lang="en-US" b="1">
              <a:sym typeface="+mn-ea"/>
            </a:endParaRPr>
          </a:p>
          <a:p>
            <a:pPr marL="342900" indent="-342900">
              <a:buAutoNum type="arabicPeriod"/>
            </a:pPr>
            <a:r>
              <a:rPr lang="en-US" b="1">
                <a:sym typeface="+mn-ea"/>
              </a:rPr>
              <a:t>System Features &amp; Key Technologies</a:t>
            </a:r>
            <a:endParaRPr lang="en-US" b="1">
              <a:sym typeface="+mn-ea"/>
            </a:endParaRPr>
          </a:p>
          <a:p>
            <a:pPr marL="342900" indent="-342900">
              <a:buAutoNum type="arabicPeriod"/>
            </a:pPr>
            <a:r>
              <a:rPr lang="en-US" b="1">
                <a:sym typeface="+mn-ea"/>
              </a:rPr>
              <a:t>System Study</a:t>
            </a:r>
            <a:endParaRPr lang="en-US" b="1">
              <a:sym typeface="+mn-ea"/>
            </a:endParaRPr>
          </a:p>
          <a:p>
            <a:pPr marL="342900" indent="-342900">
              <a:buAutoNum type="arabicPeriod"/>
            </a:pPr>
            <a:r>
              <a:rPr lang="en-US" b="1">
                <a:sym typeface="+mn-ea"/>
              </a:rPr>
              <a:t>System Architecture &amp; Workflow</a:t>
            </a:r>
            <a:endParaRPr lang="en-US" b="1">
              <a:sym typeface="+mn-ea"/>
            </a:endParaRPr>
          </a:p>
          <a:p>
            <a:pPr marL="342900" indent="-342900">
              <a:buAutoNum type="arabicPeriod"/>
            </a:pPr>
            <a:r>
              <a:rPr lang="en-US" b="1">
                <a:sym typeface="+mn-ea"/>
              </a:rPr>
              <a:t>System Analysis</a:t>
            </a:r>
            <a:endParaRPr lang="en-US" b="1">
              <a:sym typeface="+mn-ea"/>
            </a:endParaRPr>
          </a:p>
          <a:p>
            <a:pPr marL="342900" indent="-342900">
              <a:buAutoNum type="arabicPeriod"/>
            </a:pPr>
            <a:r>
              <a:rPr lang="en-US" b="1">
                <a:sym typeface="+mn-ea"/>
              </a:rPr>
              <a:t>Data Dictionary</a:t>
            </a:r>
            <a:endParaRPr lang="en-US" b="1">
              <a:sym typeface="+mn-ea"/>
            </a:endParaRPr>
          </a:p>
          <a:p>
            <a:pPr marL="342900" indent="-342900">
              <a:buAutoNum type="arabicPeriod"/>
            </a:pPr>
            <a:r>
              <a:rPr lang="en-US" b="1">
                <a:sym typeface="+mn-ea"/>
              </a:rPr>
              <a:t>Screen Layout</a:t>
            </a:r>
            <a:endParaRPr lang="en-US" b="1">
              <a:sym typeface="+mn-ea"/>
            </a:endParaRPr>
          </a:p>
          <a:p>
            <a:pPr marL="342900" indent="-342900">
              <a:buAutoNum type="arabicPeriod"/>
            </a:pPr>
            <a:r>
              <a:rPr lang="en-US" b="1">
                <a:sym typeface="+mn-ea"/>
              </a:rPr>
              <a:t>System Testing</a:t>
            </a:r>
            <a:endParaRPr lang="en-US" b="1">
              <a:sym typeface="+mn-ea"/>
            </a:endParaRPr>
          </a:p>
          <a:p>
            <a:pPr marL="342900" indent="-342900">
              <a:buAutoNum type="arabicPeriod"/>
            </a:pPr>
            <a:r>
              <a:rPr lang="en-US" b="1">
                <a:sym typeface="+mn-ea"/>
              </a:rPr>
              <a:t>Future Enhancement</a:t>
            </a:r>
            <a:endParaRPr lang="en-US" b="1">
              <a:sym typeface="+mn-ea"/>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p>
            <a:r>
              <a:rPr lang="en-US"/>
              <a:t>Project Profile</a:t>
            </a:r>
            <a:endParaRPr lang="en-US"/>
          </a:p>
        </p:txBody>
      </p:sp>
      <p:sp>
        <p:nvSpPr>
          <p:cNvPr id="3" name="Content Placeholder 2"/>
          <p:cNvSpPr>
            <a:spLocks noGrp="1"/>
          </p:cNvSpPr>
          <p:nvPr>
            <p:ph idx="1"/>
          </p:nvPr>
        </p:nvSpPr>
        <p:spPr/>
        <p:txBody>
          <a:bodyPr>
            <a:noAutofit/>
          </a:bodyPr>
          <a:p>
            <a:r>
              <a:rPr lang="en-US" altLang="en-US" sz="1600" b="1">
                <a:sym typeface="+mn-ea"/>
              </a:rPr>
              <a:t>Project Name:</a:t>
            </a:r>
            <a:r>
              <a:rPr lang="en-US" altLang="en-US" sz="1600">
                <a:sym typeface="+mn-ea"/>
              </a:rPr>
              <a:t> Easly - Chat App</a:t>
            </a:r>
            <a:endParaRPr lang="en-US" altLang="en-US" sz="1600"/>
          </a:p>
          <a:p>
            <a:r>
              <a:rPr lang="en-US" altLang="en-US" sz="1600" b="1">
                <a:sym typeface="+mn-ea"/>
              </a:rPr>
              <a:t>Type of Application: </a:t>
            </a:r>
            <a:r>
              <a:rPr lang="en-US" altLang="en-US" sz="1600">
                <a:sym typeface="+mn-ea"/>
              </a:rPr>
              <a:t>Web Application</a:t>
            </a:r>
            <a:endParaRPr lang="en-US" altLang="en-US" sz="1600"/>
          </a:p>
          <a:p>
            <a:r>
              <a:rPr lang="en-US" altLang="en-US" sz="1600" b="1">
                <a:sym typeface="+mn-ea"/>
              </a:rPr>
              <a:t>Project Description: </a:t>
            </a:r>
            <a:r>
              <a:rPr lang="en-US" altLang="en-US" sz="1600">
                <a:sym typeface="+mn-ea"/>
              </a:rPr>
              <a:t>A web-based real-time messaging application that enables users to chat with friends, manage friend requests, create group chats and view online status for easy and instant communication.</a:t>
            </a:r>
            <a:endParaRPr lang="en-US" altLang="en-US" sz="1600"/>
          </a:p>
          <a:p>
            <a:r>
              <a:rPr lang="en-US" altLang="en-US" sz="1600" b="1">
                <a:sym typeface="+mn-ea"/>
              </a:rPr>
              <a:t>Team Size:</a:t>
            </a:r>
            <a:r>
              <a:rPr lang="en-US" altLang="en-US" sz="1600">
                <a:sym typeface="+mn-ea"/>
              </a:rPr>
              <a:t> 2</a:t>
            </a:r>
            <a:endParaRPr lang="en-US" altLang="en-US" sz="1600"/>
          </a:p>
          <a:p>
            <a:r>
              <a:rPr lang="en-US" altLang="en-US" sz="1600" b="1">
                <a:sym typeface="+mn-ea"/>
              </a:rPr>
              <a:t>Front End: </a:t>
            </a:r>
            <a:r>
              <a:rPr lang="en-US" altLang="en-US" sz="1600">
                <a:sym typeface="+mn-ea"/>
              </a:rPr>
              <a:t>React.js, Tailwind CSS, Material UI (MUI), Redux Toolkit, RTK Query</a:t>
            </a:r>
            <a:endParaRPr lang="en-US" altLang="en-US" sz="1600"/>
          </a:p>
          <a:p>
            <a:r>
              <a:rPr lang="en-US" altLang="en-US" sz="1600" b="1">
                <a:sym typeface="+mn-ea"/>
              </a:rPr>
              <a:t>Back End: </a:t>
            </a:r>
            <a:r>
              <a:rPr lang="en-US" altLang="en-US" sz="1600">
                <a:sym typeface="+mn-ea"/>
              </a:rPr>
              <a:t>Node.js, MongoDB</a:t>
            </a:r>
            <a:endParaRPr lang="en-US" altLang="en-US" sz="1600"/>
          </a:p>
          <a:p>
            <a:r>
              <a:rPr lang="en-US" altLang="en-US" sz="1600" b="1">
                <a:sym typeface="+mn-ea"/>
              </a:rPr>
              <a:t>Development Tools used: </a:t>
            </a:r>
            <a:r>
              <a:rPr lang="en-US" altLang="en-US" sz="1600">
                <a:sym typeface="+mn-ea"/>
              </a:rPr>
              <a:t>VS Code, Postman, MongoDB Compass</a:t>
            </a:r>
            <a:endParaRPr lang="en-US" altLang="en-US" sz="1600"/>
          </a:p>
          <a:p>
            <a:endParaRPr lang="en-US" altLang="en-US" sz="160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Introduction</a:t>
            </a:r>
            <a:endParaRPr lang="en-IN" dirty="0"/>
          </a:p>
        </p:txBody>
      </p:sp>
      <p:sp>
        <p:nvSpPr>
          <p:cNvPr id="3" name="Content Placeholder 2"/>
          <p:cNvSpPr>
            <a:spLocks noGrp="1"/>
          </p:cNvSpPr>
          <p:nvPr>
            <p:ph sz="half" idx="1"/>
          </p:nvPr>
        </p:nvSpPr>
        <p:spPr>
          <a:xfrm>
            <a:off x="901336" y="2330926"/>
            <a:ext cx="10058401" cy="2632960"/>
          </a:xfrm>
        </p:spPr>
        <p:txBody>
          <a:bodyPr>
            <a:normAutofit/>
          </a:bodyPr>
          <a:lstStyle/>
          <a:p>
            <a:pPr marL="578485" lvl="1" indent="-285750">
              <a:buFont typeface="Arial" panose="020B0604020202090204" pitchFamily="34" charset="0"/>
              <a:buChar char="•"/>
            </a:pPr>
            <a:r>
              <a:rPr lang="en-US" dirty="0"/>
              <a:t>Easly Chat is a real-time messaging web application that enables users to chat with friends, manage friend requests, create group chats and view online status for easy and instant communication.</a:t>
            </a:r>
            <a:endParaRPr lang="en-US" dirty="0"/>
          </a:p>
          <a:p>
            <a:pPr marL="578485" lvl="1" indent="-285750">
              <a:buFont typeface="Arial" panose="020B0604020202090204" pitchFamily="34" charset="0"/>
              <a:buChar char="•"/>
            </a:pPr>
            <a:endParaRPr lang="en-US" dirty="0"/>
          </a:p>
          <a:p>
            <a:pPr marL="578485" lvl="1" indent="-285750">
              <a:buFont typeface="Arial" panose="020B0604020202090204" pitchFamily="34" charset="0"/>
              <a:buChar char="•"/>
            </a:pPr>
            <a:r>
              <a:rPr lang="en-US" dirty="0"/>
              <a:t>It integrates user registration with OTP verification, secure login with protected routes, friend management, one-to-one and group chat, and unread message counts.</a:t>
            </a:r>
            <a:endParaRPr lang="en-US" dirty="0"/>
          </a:p>
          <a:p>
            <a:pPr marL="578485" lvl="1" indent="-285750">
              <a:buFont typeface="Arial" panose="020B0604020202090204" pitchFamily="34" charset="0"/>
              <a:buChar char="•"/>
            </a:pPr>
            <a:endParaRPr lang="en-US" dirty="0"/>
          </a:p>
          <a:p>
            <a:pPr marL="578485" lvl="1" indent="-285750">
              <a:buFont typeface="Arial" panose="020B0604020202090204" pitchFamily="34" charset="0"/>
              <a:buChar char="•"/>
            </a:pPr>
            <a:r>
              <a:rPr lang="en-US" dirty="0"/>
              <a:t>Messages are delivered instantly through Socket.io without refreshing the page, and the responsive interface works on both desktop and mobile devices, making communication simple and efficient.</a:t>
            </a:r>
            <a:endParaRPr lang="en-US"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System Features</a:t>
            </a:r>
            <a:endParaRPr lang="en-IN" dirty="0"/>
          </a:p>
        </p:txBody>
      </p:sp>
      <p:sp>
        <p:nvSpPr>
          <p:cNvPr id="4" name="Content Placeholder 3"/>
          <p:cNvSpPr>
            <a:spLocks noGrp="1"/>
          </p:cNvSpPr>
          <p:nvPr>
            <p:ph sz="half" idx="2"/>
          </p:nvPr>
        </p:nvSpPr>
        <p:spPr>
          <a:xfrm>
            <a:off x="953084" y="1965347"/>
            <a:ext cx="5952541" cy="4294327"/>
          </a:xfrm>
        </p:spPr>
        <p:txBody>
          <a:bodyPr>
            <a:noAutofit/>
          </a:bodyPr>
          <a:lstStyle/>
          <a:p>
            <a:pPr marL="578485" lvl="1" indent="-285750">
              <a:buFont typeface="Arial" panose="020B0604020202090204" pitchFamily="34" charset="0"/>
              <a:buChar char="•"/>
            </a:pPr>
            <a:r>
              <a:rPr lang="en-US" sz="1600" b="1" dirty="0"/>
              <a:t>User Authentication:</a:t>
            </a:r>
            <a:r>
              <a:rPr lang="en-US" sz="1600" dirty="0"/>
              <a:t> Registration with OTP verification, secure login and protected routes.</a:t>
            </a:r>
            <a:endParaRPr lang="en-US" sz="1600" dirty="0"/>
          </a:p>
          <a:p>
            <a:pPr marL="292735" lvl="1" indent="0">
              <a:buNone/>
            </a:pPr>
            <a:endParaRPr lang="en-US" sz="1600" dirty="0"/>
          </a:p>
          <a:p>
            <a:pPr marL="578485" lvl="1" indent="-285750">
              <a:buFont typeface="Arial" panose="020B0604020202090204" pitchFamily="34" charset="0"/>
              <a:buChar char="•"/>
            </a:pPr>
            <a:r>
              <a:rPr lang="en-US" sz="1600" b="1" dirty="0"/>
              <a:t>Friend Management:</a:t>
            </a:r>
            <a:r>
              <a:rPr lang="en-US" sz="1600" dirty="0"/>
              <a:t> Send and accept friend requests and view the friend list.</a:t>
            </a:r>
            <a:endParaRPr lang="en-US" sz="1600" dirty="0"/>
          </a:p>
          <a:p>
            <a:pPr marL="292735" lvl="1" indent="0">
              <a:buNone/>
            </a:pPr>
            <a:endParaRPr lang="en-US" sz="1600" dirty="0"/>
          </a:p>
          <a:p>
            <a:pPr marL="578485" lvl="1" indent="-285750">
              <a:buFont typeface="Arial" panose="020B0604020202090204" pitchFamily="34" charset="0"/>
              <a:buChar char="•"/>
            </a:pPr>
            <a:r>
              <a:rPr lang="en-US" sz="1600" b="1" dirty="0"/>
              <a:t>Real-Time Chat:</a:t>
            </a:r>
            <a:r>
              <a:rPr lang="en-US" sz="1600" dirty="0"/>
              <a:t> One-to-one and group messaging with Socket.io, chat history and unread count.</a:t>
            </a:r>
            <a:endParaRPr lang="en-US" sz="1600" dirty="0"/>
          </a:p>
          <a:p>
            <a:pPr marL="292735" lvl="1" indent="0">
              <a:buNone/>
            </a:pPr>
            <a:endParaRPr lang="en-US" sz="1600" dirty="0"/>
          </a:p>
          <a:p>
            <a:pPr marL="578485" lvl="1" indent="-285750">
              <a:buFont typeface="Arial" panose="020B0604020202090204" pitchFamily="34" charset="0"/>
              <a:buChar char="•"/>
            </a:pPr>
            <a:r>
              <a:rPr lang="en-US" sz="1600" b="1" dirty="0"/>
              <a:t>Groups &amp; Profile:</a:t>
            </a:r>
            <a:r>
              <a:rPr lang="en-US" sz="1600" dirty="0"/>
              <a:t> Create groups, manage members and update your profile picture.</a:t>
            </a:r>
            <a:endParaRPr lang="en-US" sz="1600" dirty="0"/>
          </a:p>
        </p:txBody>
      </p:sp>
      <p:pic>
        <p:nvPicPr>
          <p:cNvPr id="10" name="Picture 9" descr="System Features image"/>
          <p:cNvPicPr>
            <a:picLocks noChangeAspect="1"/>
          </p:cNvPicPr>
          <p:nvPr/>
        </p:nvPicPr>
        <p:blipFill>
          <a:blip r:embed="rId3">
            <a:alphaModFix amt="79000"/>
          </a:blip>
          <a:stretch>
            <a:fillRect/>
          </a:stretch>
        </p:blipFill>
        <p:spPr>
          <a:xfrm>
            <a:off x="7095744" y="2514600"/>
            <a:ext cx="4983480" cy="2468774"/>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Key Technologies</a:t>
            </a:r>
            <a:endParaRPr lang="en-IN" dirty="0"/>
          </a:p>
        </p:txBody>
      </p:sp>
      <p:sp>
        <p:nvSpPr>
          <p:cNvPr id="3" name="Content Placeholder 2"/>
          <p:cNvSpPr>
            <a:spLocks noGrp="1"/>
          </p:cNvSpPr>
          <p:nvPr>
            <p:ph idx="1"/>
          </p:nvPr>
        </p:nvSpPr>
        <p:spPr>
          <a:xfrm>
            <a:off x="1226820" y="2217209"/>
            <a:ext cx="9799320" cy="2735791"/>
          </a:xfrm>
        </p:spPr>
        <p:txBody>
          <a:bodyPr>
            <a:normAutofit lnSpcReduction="20000"/>
          </a:bodyPr>
          <a:lstStyle/>
          <a:p>
            <a:pPr marL="578485" lvl="1" indent="-285750">
              <a:buFont typeface="Arial" panose="020B0604020202090204" pitchFamily="34" charset="0"/>
              <a:buChar char="•"/>
            </a:pPr>
            <a:r>
              <a:rPr lang="en-IN" sz="1800" b="1" dirty="0"/>
              <a:t>Frontend:</a:t>
            </a:r>
            <a:r>
              <a:rPr lang="en-IN" sz="1800" dirty="0"/>
              <a:t> React.js, Tailwind CSS, Material UI (MUI), Redux Toolkit, RTK Query</a:t>
            </a:r>
            <a:endParaRPr lang="en-IN" sz="1800" dirty="0"/>
          </a:p>
          <a:p>
            <a:pPr marL="292735" lvl="1" indent="0">
              <a:buNone/>
            </a:pPr>
            <a:endParaRPr lang="en-IN" sz="1800" dirty="0"/>
          </a:p>
          <a:p>
            <a:pPr marL="578485" lvl="1" indent="-285750">
              <a:buFont typeface="Arial" panose="020B0604020202090204" pitchFamily="34" charset="0"/>
              <a:buChar char="•"/>
            </a:pPr>
            <a:r>
              <a:rPr lang="en-IN" sz="1800" b="1" dirty="0"/>
              <a:t>Backend:</a:t>
            </a:r>
            <a:r>
              <a:rPr lang="en-IN" sz="1800" dirty="0"/>
              <a:t> Node.js for server-side logic and REST APIs</a:t>
            </a:r>
            <a:endParaRPr lang="en-IN" sz="1800" dirty="0"/>
          </a:p>
          <a:p>
            <a:pPr marL="292735" lvl="1" indent="0">
              <a:buNone/>
            </a:pPr>
            <a:endParaRPr lang="en-IN" sz="1800" dirty="0"/>
          </a:p>
          <a:p>
            <a:pPr marL="578485" lvl="1" indent="-285750">
              <a:buFont typeface="Arial" panose="020B0604020202090204" pitchFamily="34" charset="0"/>
              <a:buChar char="•"/>
            </a:pPr>
            <a:r>
              <a:rPr lang="en-IN" sz="1800" b="1" dirty="0"/>
              <a:t>Database:</a:t>
            </a:r>
            <a:r>
              <a:rPr lang="en-IN" sz="1800" dirty="0"/>
              <a:t> MongoDB for users, chats, messages and requests</a:t>
            </a:r>
            <a:endParaRPr lang="en-IN" sz="1800" dirty="0"/>
          </a:p>
          <a:p>
            <a:pPr marL="292735" lvl="1" indent="0">
              <a:buNone/>
            </a:pPr>
            <a:endParaRPr lang="en-IN" sz="1800" dirty="0"/>
          </a:p>
          <a:p>
            <a:pPr marL="578485" lvl="1" indent="-285750">
              <a:buFont typeface="Arial" panose="020B0604020202090204" pitchFamily="34" charset="0"/>
              <a:buChar char="•"/>
            </a:pPr>
            <a:r>
              <a:rPr lang="en-IN" sz="1800" b="1" dirty="0"/>
              <a:t>Real-Time:</a:t>
            </a:r>
            <a:r>
              <a:rPr lang="en-IN" sz="1800" dirty="0"/>
              <a:t> Socket.io for instant message delivery and online status</a:t>
            </a:r>
            <a:endParaRPr lang="en-IN" sz="1800" dirty="0"/>
          </a:p>
          <a:p>
            <a:pPr marL="292735" lvl="1" indent="0">
              <a:buNone/>
            </a:pPr>
            <a:endParaRPr lang="en-IN" sz="1800" dirty="0"/>
          </a:p>
          <a:p>
            <a:pPr marL="578485" lvl="1" indent="-285750">
              <a:buFont typeface="Arial" panose="020B0604020202090204" pitchFamily="34" charset="0"/>
              <a:buChar char="•"/>
            </a:pPr>
            <a:r>
              <a:rPr lang="en-IN" sz="1800" b="1" dirty="0"/>
              <a:t>Tools:</a:t>
            </a:r>
            <a:r>
              <a:rPr lang="en-IN" sz="1800" dirty="0"/>
              <a:t> VS Code, Postman, MongoDB Compass</a:t>
            </a:r>
            <a:endParaRPr lang="en-IN" sz="180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Introduction to Tools</a:t>
            </a:r>
            <a:endParaRPr lang="en-IN" dirty="0"/>
          </a:p>
        </p:txBody>
      </p:sp>
      <p:sp>
        <p:nvSpPr>
          <p:cNvPr id="3" name="Content Placeholder 2"/>
          <p:cNvSpPr>
            <a:spLocks noGrp="1"/>
          </p:cNvSpPr>
          <p:nvPr>
            <p:ph idx="1"/>
          </p:nvPr>
        </p:nvSpPr>
        <p:spPr>
          <a:xfrm>
            <a:off x="1226820" y="1920240"/>
            <a:ext cx="9799320" cy="3657600"/>
          </a:xfrm>
        </p:spPr>
        <p:txBody>
          <a:bodyPr>
            <a:normAutofit lnSpcReduction="20000"/>
          </a:bodyPr>
          <a:lstStyle/>
          <a:p>
            <a:pPr marL="578485" lvl="1" indent="-285750">
              <a:buFont typeface="Arial" panose="020B0604020202090204" pitchFamily="34" charset="0"/>
              <a:buChar char="•"/>
            </a:pPr>
            <a:r>
              <a:rPr lang="en-IN" sz="1500" b="1" dirty="0"/>
              <a:t>React.js:</a:t>
            </a:r>
            <a:r>
              <a:rPr lang="en-IN" sz="1500" dirty="0"/>
              <a:t> JavaScript library for building user interfaces with a component-based architecture. Its virtual DOM updates only the parts of the page that change, keeping the app fast and responsive.</a:t>
            </a:r>
            <a:endParaRPr lang="en-IN" sz="1500" dirty="0"/>
          </a:p>
          <a:p>
            <a:pPr marL="292735" lvl="1" indent="0">
              <a:buNone/>
            </a:pPr>
            <a:endParaRPr lang="en-IN" sz="1500" dirty="0"/>
          </a:p>
          <a:p>
            <a:pPr marL="578485" lvl="1" indent="-285750">
              <a:buFont typeface="Arial" panose="020B0604020202090204" pitchFamily="34" charset="0"/>
              <a:buChar char="•"/>
            </a:pPr>
            <a:r>
              <a:rPr lang="en-IN" sz="1500" b="1" dirty="0"/>
              <a:t>Tailwind CSS:</a:t>
            </a:r>
            <a:r>
              <a:rPr lang="en-IN" sz="1500" dirty="0"/>
              <a:t> Utility-first CSS framework that provides classes to design the UI exactly as required, without pre-designed components like Bootstrap.</a:t>
            </a:r>
            <a:endParaRPr lang="en-IN" sz="1500" dirty="0"/>
          </a:p>
          <a:p>
            <a:pPr marL="292735" lvl="1" indent="0">
              <a:buNone/>
            </a:pPr>
            <a:endParaRPr lang="en-IN" sz="1500" dirty="0"/>
          </a:p>
          <a:p>
            <a:pPr marL="578485" lvl="1" indent="-285750">
              <a:buFont typeface="Arial" panose="020B0604020202090204" pitchFamily="34" charset="0"/>
              <a:buChar char="•"/>
            </a:pPr>
            <a:r>
              <a:rPr lang="en-IN" sz="1500" b="1" dirty="0"/>
              <a:t>Node.js:</a:t>
            </a:r>
            <a:r>
              <a:rPr lang="en-IN" sz="1500" dirty="0"/>
              <a:t> JavaScript runtime built on Chrome’s V8 engine. It runs JavaScript on the server, handles HTTP requests and connects with the database.</a:t>
            </a:r>
            <a:endParaRPr lang="en-IN" sz="1500" dirty="0"/>
          </a:p>
          <a:p>
            <a:pPr marL="292735" lvl="1" indent="0">
              <a:buNone/>
            </a:pPr>
            <a:endParaRPr lang="en-IN" sz="1500" dirty="0"/>
          </a:p>
          <a:p>
            <a:pPr marL="578485" lvl="1" indent="-285750">
              <a:buFont typeface="Arial" panose="020B0604020202090204" pitchFamily="34" charset="0"/>
              <a:buChar char="•"/>
            </a:pPr>
            <a:r>
              <a:rPr lang="en-IN" sz="1500" b="1" dirty="0"/>
              <a:t>MongoDB:</a:t>
            </a:r>
            <a:r>
              <a:rPr lang="en-IN" sz="1500" dirty="0"/>
              <a:t> Flexible, scalable NoSQL document database that stores data as JSON-like documents and supports create, read, update and delete operations.</a:t>
            </a:r>
            <a:endParaRPr lang="en-IN" sz="150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System Study</a:t>
            </a:r>
            <a:endParaRPr lang="en-IN" dirty="0"/>
          </a:p>
        </p:txBody>
      </p:sp>
      <p:sp>
        <p:nvSpPr>
          <p:cNvPr id="3" name="Content Placeholder 2"/>
          <p:cNvSpPr>
            <a:spLocks noGrp="1"/>
          </p:cNvSpPr>
          <p:nvPr>
            <p:ph idx="1"/>
          </p:nvPr>
        </p:nvSpPr>
        <p:spPr>
          <a:xfrm>
            <a:off x="1066800" y="2169584"/>
            <a:ext cx="10058400" cy="3726391"/>
          </a:xfrm>
        </p:spPr>
        <p:txBody>
          <a:bodyPr/>
          <a:lstStyle/>
          <a:p>
            <a:r>
              <a:rPr lang="en-US" sz="2400" b="1" dirty="0"/>
              <a:t>Existing System</a:t>
            </a:r>
            <a:endParaRPr lang="en-US" sz="2400" b="1" dirty="0"/>
          </a:p>
          <a:p>
            <a:r>
              <a:rPr lang="en-US" sz="1400" dirty="0"/>
              <a:t>Traditional communication methods often do not provide real-time message delivery, and users must refresh the application to see new messages. Support for instant online/offline status is limited, group communication and member management are difficult, and there is no efficient way to track unread (pending) messages. Basic messaging systems also lack friend management such as sending and accepting friend requests.</a:t>
            </a:r>
            <a:endParaRPr lang="en-US" sz="1400" dirty="0"/>
          </a:p>
          <a:p>
            <a:endParaRPr lang="en-IN" dirty="0"/>
          </a:p>
          <a:p>
            <a:r>
              <a:rPr lang="en-US" sz="2400" b="1" dirty="0"/>
              <a:t>Proposed System</a:t>
            </a:r>
            <a:endParaRPr lang="en-US" sz="2400" b="1" dirty="0"/>
          </a:p>
          <a:p>
            <a:r>
              <a:rPr lang="en-US" sz="1400" dirty="0"/>
              <a:t>Easly Chat provides user registration and secure login with protected routes, friend requests (send, accept, view friend list), real-time one-to-one chat using Socket.io with conversation history and unread message count, and group chat to create groups, add members and delete groups. Online/offline status and live updates work without any page refresh.</a:t>
            </a:r>
            <a:endParaRPr lang="en-US" sz="1400"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System Study</a:t>
            </a:r>
            <a:endParaRPr lang="en-IN" dirty="0"/>
          </a:p>
        </p:txBody>
      </p:sp>
      <p:sp>
        <p:nvSpPr>
          <p:cNvPr id="3" name="Content Placeholder 2"/>
          <p:cNvSpPr>
            <a:spLocks noGrp="1"/>
          </p:cNvSpPr>
          <p:nvPr>
            <p:ph idx="1"/>
          </p:nvPr>
        </p:nvSpPr>
        <p:spPr>
          <a:xfrm>
            <a:off x="1066800" y="2169584"/>
            <a:ext cx="10058400" cy="3726391"/>
          </a:xfrm>
        </p:spPr>
        <p:txBody>
          <a:bodyPr/>
          <a:lstStyle/>
          <a:p>
            <a:r>
              <a:rPr lang="en-US" sz="2400" b="1" dirty="0"/>
              <a:t>Scope of the Proposed System</a:t>
            </a:r>
            <a:endParaRPr lang="en-US" sz="2400" b="1" dirty="0"/>
          </a:p>
          <a:p>
            <a:r>
              <a:rPr lang="en-US" sz="1600" dirty="0"/>
              <a:t>A real-time digital communication platform offering instant one-to-one and group messaging, friend request and contact management, online/offline user status tracking and unread message notifications, delivered as a scalable and responsive web application for personal and collaborative communication.</a:t>
            </a:r>
            <a:endParaRPr lang="en-US" sz="1600" dirty="0"/>
          </a:p>
          <a:p>
            <a:endParaRPr lang="en-IN" dirty="0"/>
          </a:p>
          <a:p>
            <a:r>
              <a:rPr lang="en-US" sz="2400" b="1" dirty="0"/>
              <a:t>Aim and Objective</a:t>
            </a:r>
            <a:endParaRPr lang="en-US" sz="2400" b="1" dirty="0"/>
          </a:p>
          <a:p>
            <a:r>
              <a:rPr lang="en-US" sz="1600" dirty="0"/>
              <a:t>To provide fast and reliable real-time communication with secure authentication and friend management, support one-to-one and group conversations, display online status and unread message counts, and deliver a simple, responsive and user-friendly messaging experience that improves collaboration.</a:t>
            </a:r>
            <a:endParaRPr lang="en-US" sz="1600"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System Study</a:t>
            </a:r>
            <a:endParaRPr lang="en-IN" dirty="0"/>
          </a:p>
        </p:txBody>
      </p:sp>
      <p:sp>
        <p:nvSpPr>
          <p:cNvPr id="3" name="Content Placeholder 2"/>
          <p:cNvSpPr>
            <a:spLocks noGrp="1"/>
          </p:cNvSpPr>
          <p:nvPr>
            <p:ph idx="1"/>
          </p:nvPr>
        </p:nvSpPr>
        <p:spPr>
          <a:xfrm>
            <a:off x="1066800" y="1988609"/>
            <a:ext cx="10058400" cy="3583516"/>
          </a:xfrm>
        </p:spPr>
        <p:txBody>
          <a:bodyPr/>
          <a:lstStyle/>
          <a:p>
            <a:pPr marL="201295" lvl="1" indent="0">
              <a:buNone/>
            </a:pPr>
            <a:r>
              <a:rPr lang="en-US" sz="2400" b="1" dirty="0"/>
              <a:t>Operational Feasibility</a:t>
            </a:r>
            <a:endParaRPr lang="en-US" sz="2400" b="1" dirty="0"/>
          </a:p>
          <a:p>
            <a:endParaRPr lang="en-US" dirty="0"/>
          </a:p>
          <a:p>
            <a:pPr marL="578485" lvl="1" indent="-285750">
              <a:buFont typeface="Arial" panose="020B0604020202090204" pitchFamily="34" charset="0"/>
              <a:buChar char="•"/>
            </a:pPr>
            <a:r>
              <a:rPr lang="en-US" sz="1600" dirty="0"/>
              <a:t>The system provides a simple and user-friendly interface for real-time communication.</a:t>
            </a:r>
            <a:endParaRPr lang="en-US" sz="1600" dirty="0"/>
          </a:p>
          <a:p>
            <a:pPr marL="292735" lvl="1" indent="0">
              <a:buNone/>
            </a:pPr>
            <a:endParaRPr lang="en-US" sz="1600" dirty="0"/>
          </a:p>
          <a:p>
            <a:pPr marL="578485" lvl="1" indent="-285750">
              <a:buFont typeface="Arial" panose="020B0604020202090204" pitchFamily="34" charset="0"/>
              <a:buChar char="•"/>
            </a:pPr>
            <a:r>
              <a:rPr lang="en-US" sz="1600" dirty="0"/>
              <a:t>Users can send and receive messages instantly without refreshing the page, in one-to-one chats and group conversations.</a:t>
            </a:r>
            <a:endParaRPr lang="en-US" sz="1600" dirty="0"/>
          </a:p>
          <a:p>
            <a:pPr marL="292735" lvl="1" indent="0">
              <a:buNone/>
            </a:pPr>
            <a:endParaRPr lang="en-US" sz="1600" dirty="0"/>
          </a:p>
          <a:p>
            <a:pPr marL="578485" lvl="1" indent="-285750">
              <a:buFont typeface="Arial" panose="020B0604020202090204" pitchFamily="34" charset="0"/>
              <a:buChar char="•"/>
            </a:pPr>
            <a:r>
              <a:rPr lang="en-US" sz="1600" dirty="0"/>
              <a:t>Users can manage friends by sending and accepting friend requests.</a:t>
            </a:r>
            <a:endParaRPr lang="en-US" sz="1600" dirty="0"/>
          </a:p>
          <a:p>
            <a:pPr marL="292735" lvl="1" indent="0">
              <a:buNone/>
            </a:pPr>
            <a:endParaRPr lang="en-US" sz="1600" dirty="0"/>
          </a:p>
          <a:p>
            <a:pPr marL="578485" lvl="1" indent="-285750">
              <a:buFont typeface="Arial" panose="020B0604020202090204" pitchFamily="34" charset="0"/>
              <a:buChar char="•"/>
            </a:pPr>
            <a:r>
              <a:rPr lang="en-US" sz="1600" dirty="0"/>
              <a:t>Online/offline status and unread message counts are shown in real time, improving the overall user experience.</a:t>
            </a:r>
            <a:endParaRPr lang="en-US" sz="1600"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System Study</a:t>
            </a:r>
            <a:endParaRPr lang="en-IN" dirty="0"/>
          </a:p>
        </p:txBody>
      </p:sp>
      <p:sp>
        <p:nvSpPr>
          <p:cNvPr id="3" name="Content Placeholder 2"/>
          <p:cNvSpPr>
            <a:spLocks noGrp="1"/>
          </p:cNvSpPr>
          <p:nvPr>
            <p:ph idx="1"/>
          </p:nvPr>
        </p:nvSpPr>
        <p:spPr>
          <a:xfrm>
            <a:off x="1066800" y="1988609"/>
            <a:ext cx="10058400" cy="3583516"/>
          </a:xfrm>
        </p:spPr>
        <p:txBody>
          <a:bodyPr/>
          <a:lstStyle/>
          <a:p>
            <a:pPr marL="201295" lvl="1" indent="0">
              <a:buNone/>
            </a:pPr>
            <a:r>
              <a:rPr lang="en-US" sz="2400" b="1" dirty="0"/>
              <a:t>Technical Feasibility</a:t>
            </a:r>
            <a:endParaRPr lang="en-US" sz="2400" b="1" dirty="0"/>
          </a:p>
          <a:p>
            <a:endParaRPr lang="en-US" dirty="0"/>
          </a:p>
          <a:p>
            <a:pPr marL="578485" lvl="1" indent="-285750">
              <a:buFont typeface="Arial" panose="020B0604020202090204" pitchFamily="34" charset="0"/>
              <a:buChar char="•"/>
            </a:pPr>
            <a:r>
              <a:rPr lang="en-US" sz="1600" dirty="0"/>
              <a:t>The system is developed using modern web technologies such as React.js, Node.js, MongoDB, Socket.io, Redux Toolkit and Tailwind CSS.</a:t>
            </a:r>
            <a:endParaRPr lang="en-US" sz="1600" dirty="0"/>
          </a:p>
          <a:p>
            <a:pPr marL="292735" lvl="1" indent="0">
              <a:buNone/>
            </a:pPr>
            <a:endParaRPr lang="en-US" sz="1600" dirty="0"/>
          </a:p>
          <a:p>
            <a:pPr marL="578485" lvl="1" indent="-285750">
              <a:buFont typeface="Arial" panose="020B0604020202090204" pitchFamily="34" charset="0"/>
              <a:buChar char="•"/>
            </a:pPr>
            <a:r>
              <a:rPr lang="en-US" sz="1600" dirty="0"/>
              <a:t>It supports both desktop and mobile devices through a responsive user interface.</a:t>
            </a:r>
            <a:endParaRPr lang="en-US" sz="1600" dirty="0"/>
          </a:p>
          <a:p>
            <a:pPr marL="292735" lvl="1" indent="0">
              <a:buNone/>
            </a:pPr>
            <a:endParaRPr lang="en-US" sz="1600" dirty="0"/>
          </a:p>
          <a:p>
            <a:pPr marL="578485" lvl="1" indent="-285750">
              <a:buFont typeface="Arial" panose="020B0604020202090204" pitchFamily="34" charset="0"/>
              <a:buChar char="•"/>
            </a:pPr>
            <a:r>
              <a:rPr lang="en-US" sz="1600" dirty="0"/>
              <a:t>Real-time communication is achieved using Socket.io, ensuring instant message delivery.</a:t>
            </a:r>
            <a:endParaRPr lang="en-US" sz="1600" dirty="0"/>
          </a:p>
          <a:p>
            <a:pPr marL="292735" lvl="1" indent="0">
              <a:buNone/>
            </a:pPr>
            <a:endParaRPr lang="en-US" sz="1600" dirty="0"/>
          </a:p>
          <a:p>
            <a:pPr marL="578485" lvl="1" indent="-285750">
              <a:buFont typeface="Arial" panose="020B0604020202090204" pitchFamily="34" charset="0"/>
              <a:buChar char="•"/>
            </a:pPr>
            <a:r>
              <a:rPr lang="en-US" sz="1600" dirty="0"/>
              <a:t>Secure user authentication and protected routes ensure that only authorized users can access the application.</a:t>
            </a:r>
            <a:endParaRPr lang="en-US" sz="1600"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System Study</a:t>
            </a:r>
            <a:endParaRPr lang="en-IN" dirty="0"/>
          </a:p>
        </p:txBody>
      </p:sp>
      <p:sp>
        <p:nvSpPr>
          <p:cNvPr id="3" name="Content Placeholder 2"/>
          <p:cNvSpPr>
            <a:spLocks noGrp="1"/>
          </p:cNvSpPr>
          <p:nvPr>
            <p:ph idx="1"/>
          </p:nvPr>
        </p:nvSpPr>
        <p:spPr>
          <a:xfrm>
            <a:off x="836023" y="1976364"/>
            <a:ext cx="10319657" cy="4023360"/>
          </a:xfrm>
        </p:spPr>
        <p:txBody>
          <a:bodyPr/>
          <a:lstStyle/>
          <a:p>
            <a:pPr lvl="1">
              <a:buNone/>
            </a:pPr>
            <a:r>
              <a:rPr lang="en-US" sz="2400" b="1" dirty="0"/>
              <a:t>Economic Feasibility</a:t>
            </a:r>
            <a:endParaRPr lang="en-US" sz="2400" b="1" dirty="0"/>
          </a:p>
          <a:p>
            <a:pPr lvl="1">
              <a:buNone/>
            </a:pPr>
            <a:endParaRPr lang="en-US" dirty="0"/>
          </a:p>
          <a:p>
            <a:pPr marL="578485" lvl="1" indent="-285750">
              <a:buFont typeface="Arial" panose="020B0604020202090204" pitchFamily="34" charset="0"/>
              <a:buChar char="•"/>
            </a:pPr>
            <a:r>
              <a:rPr lang="en-US" sz="1600" dirty="0"/>
              <a:t>The application is developed using open-source technologies, which reduces development costs.</a:t>
            </a:r>
            <a:endParaRPr lang="en-US" sz="1600" dirty="0"/>
          </a:p>
          <a:p>
            <a:pPr marL="292735" lvl="1" indent="0">
              <a:buNone/>
            </a:pPr>
            <a:endParaRPr lang="en-US" sz="1600" dirty="0"/>
          </a:p>
          <a:p>
            <a:pPr marL="578485" lvl="1" indent="-285750">
              <a:buFont typeface="Arial" panose="020B0604020202090204" pitchFamily="34" charset="0"/>
              <a:buChar char="•"/>
            </a:pPr>
            <a:r>
              <a:rPr lang="en-US" sz="1600" dirty="0"/>
              <a:t>The system reduces communication delays by enabling instant messaging.</a:t>
            </a:r>
            <a:endParaRPr lang="en-US" sz="1600" dirty="0"/>
          </a:p>
          <a:p>
            <a:pPr marL="292735" lvl="1" indent="0">
              <a:buNone/>
            </a:pPr>
            <a:endParaRPr lang="en-US" sz="1600" dirty="0"/>
          </a:p>
          <a:p>
            <a:pPr marL="578485" lvl="1" indent="-285750">
              <a:buFont typeface="Arial" panose="020B0604020202090204" pitchFamily="34" charset="0"/>
              <a:buChar char="•"/>
            </a:pPr>
            <a:r>
              <a:rPr lang="en-US" sz="1600" dirty="0"/>
              <a:t>The scalable architecture allows future enhancements without significant additional cost.</a:t>
            </a:r>
            <a:endParaRPr lang="en-US" sz="1600" dirty="0"/>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System Architecture &amp; Workflow</a:t>
            </a:r>
            <a:endParaRPr lang="en-IN" dirty="0"/>
          </a:p>
        </p:txBody>
      </p:sp>
      <p:sp>
        <p:nvSpPr>
          <p:cNvPr id="4" name="Rectangle 1"/>
          <p:cNvSpPr>
            <a:spLocks noGrp="1" noChangeArrowheads="1"/>
          </p:cNvSpPr>
          <p:nvPr>
            <p:ph idx="1"/>
          </p:nvPr>
        </p:nvSpPr>
        <p:spPr bwMode="auto">
          <a:xfrm>
            <a:off x="892006" y="1874519"/>
            <a:ext cx="11023186" cy="3383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578485" lvl="1" indent="-285750" eaLnBrk="0" fontAlgn="base" hangingPunct="0">
              <a:lnSpc>
                <a:spcPct val="100000"/>
              </a:lnSpc>
              <a:spcBef>
                <a:spcPct val="0"/>
              </a:spcBef>
              <a:spcAft>
                <a:spcPct val="0"/>
              </a:spcAft>
              <a:buClrTx/>
              <a:buFont typeface="Arial" panose="020B0604020202090204" pitchFamily="34" charset="0"/>
              <a:buChar char="•"/>
            </a:pPr>
            <a:r>
              <a:rPr kumimoji="0" lang="en-US" altLang="en-US" sz="1500" b="1" i="0" u="none" strike="noStrike" cap="none" normalizeH="0" baseline="0" dirty="0">
                <a:ln>
                  <a:noFill/>
                </a:ln>
                <a:solidFill>
                  <a:schemeClr val="tx1">
                    <a:lumMod val="75000"/>
                    <a:lumOff val="25000"/>
                  </a:schemeClr>
                </a:solidFill>
                <a:effectLst/>
                <a:latin typeface="Arial" panose="020B0604020202090204" pitchFamily="34" charset="0"/>
              </a:rPr>
              <a:t>User Interface:</a:t>
            </a:r>
            <a:r>
              <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rPr>
              <a:t> React.js web interface styled with Tailwind CSS and Material UI.</a:t>
            </a:r>
            <a:endPar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endPar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r>
              <a:rPr kumimoji="0" lang="en-US" altLang="en-US" sz="1500" b="1" i="0" u="none" strike="noStrike" cap="none" normalizeH="0" baseline="0" dirty="0">
                <a:ln>
                  <a:noFill/>
                </a:ln>
                <a:solidFill>
                  <a:schemeClr val="tx1">
                    <a:lumMod val="75000"/>
                    <a:lumOff val="25000"/>
                  </a:schemeClr>
                </a:solidFill>
                <a:effectLst/>
                <a:latin typeface="Arial" panose="020B0604020202090204" pitchFamily="34" charset="0"/>
              </a:rPr>
              <a:t>Registration &amp; Login:</a:t>
            </a:r>
            <a:r>
              <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rPr>
              <a:t> OTP-verified registration and secure login with protected routes.</a:t>
            </a:r>
            <a:endPar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endPar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r>
              <a:rPr kumimoji="0" lang="en-US" altLang="en-US" sz="1500" b="1" i="0" u="none" strike="noStrike" cap="none" normalizeH="0" baseline="0" dirty="0">
                <a:ln>
                  <a:noFill/>
                </a:ln>
                <a:solidFill>
                  <a:schemeClr val="tx1">
                    <a:lumMod val="75000"/>
                    <a:lumOff val="25000"/>
                  </a:schemeClr>
                </a:solidFill>
                <a:effectLst/>
                <a:latin typeface="Arial" panose="020B0604020202090204" pitchFamily="34" charset="0"/>
              </a:rPr>
              <a:t>State Management:</a:t>
            </a:r>
            <a:r>
              <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rPr>
              <a:t> Redux Toolkit and RTK Query manage application state and API calls.</a:t>
            </a:r>
            <a:endPar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endPar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r>
              <a:rPr kumimoji="0" lang="en-US" altLang="en-US" sz="1500" b="1" i="0" u="none" strike="noStrike" cap="none" normalizeH="0" baseline="0" dirty="0">
                <a:ln>
                  <a:noFill/>
                </a:ln>
                <a:solidFill>
                  <a:schemeClr val="tx1">
                    <a:lumMod val="75000"/>
                    <a:lumOff val="25000"/>
                  </a:schemeClr>
                </a:solidFill>
                <a:effectLst/>
                <a:latin typeface="Arial" panose="020B0604020202090204" pitchFamily="34" charset="0"/>
              </a:rPr>
              <a:t>Friend Management:</a:t>
            </a:r>
            <a:r>
              <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rPr>
              <a:t> Users search people, send friend requests and accept them.</a:t>
            </a:r>
            <a:endPar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endPar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r>
              <a:rPr kumimoji="0" lang="en-US" altLang="en-US" sz="1500" b="1" i="0" u="none" strike="noStrike" cap="none" normalizeH="0" baseline="0" dirty="0">
                <a:ln>
                  <a:noFill/>
                </a:ln>
                <a:solidFill>
                  <a:schemeClr val="tx1">
                    <a:lumMod val="75000"/>
                    <a:lumOff val="25000"/>
                  </a:schemeClr>
                </a:solidFill>
                <a:effectLst/>
                <a:latin typeface="Arial" panose="020B0604020202090204" pitchFamily="34" charset="0"/>
              </a:rPr>
              <a:t>Real-Time Chat:</a:t>
            </a:r>
            <a:r>
              <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rPr>
              <a:t> Socket.io delivers one-to-one and group messages instantly, with online status and unread counts.</a:t>
            </a:r>
            <a:endPar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endPar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r>
              <a:rPr kumimoji="0" lang="en-US" altLang="en-US" sz="1500" b="1" i="0" u="none" strike="noStrike" cap="none" normalizeH="0" baseline="0" dirty="0">
                <a:ln>
                  <a:noFill/>
                </a:ln>
                <a:solidFill>
                  <a:schemeClr val="tx1">
                    <a:lumMod val="75000"/>
                    <a:lumOff val="25000"/>
                  </a:schemeClr>
                </a:solidFill>
                <a:effectLst/>
                <a:latin typeface="Arial" panose="020B0604020202090204" pitchFamily="34" charset="0"/>
              </a:rPr>
              <a:t>Backend Processing:</a:t>
            </a:r>
            <a:r>
              <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rPr>
              <a:t> Node.js server handles user requests and application logic.</a:t>
            </a:r>
            <a:endPar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endPar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r>
              <a:rPr kumimoji="0" lang="en-US" altLang="en-US" sz="1500" b="1" i="0" u="none" strike="noStrike" cap="none" normalizeH="0" baseline="0" dirty="0">
                <a:ln>
                  <a:noFill/>
                </a:ln>
                <a:solidFill>
                  <a:schemeClr val="tx1">
                    <a:lumMod val="75000"/>
                    <a:lumOff val="25000"/>
                  </a:schemeClr>
                </a:solidFill>
                <a:effectLst/>
                <a:latin typeface="Arial" panose="020B0604020202090204" pitchFamily="34" charset="0"/>
              </a:rPr>
              <a:t>Database Management:</a:t>
            </a:r>
            <a:r>
              <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rPr>
              <a:t> MongoDB stores users, chats, messages, requests and OTPs.</a:t>
            </a:r>
            <a:endPar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endParaR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System Requirement Specification</a:t>
            </a:r>
            <a:endParaRPr lang="en-IN" dirty="0"/>
          </a:p>
        </p:txBody>
      </p:sp>
      <p:sp>
        <p:nvSpPr>
          <p:cNvPr id="4" name="Rectangle 1"/>
          <p:cNvSpPr>
            <a:spLocks noGrp="1" noChangeArrowheads="1"/>
          </p:cNvSpPr>
          <p:nvPr>
            <p:ph idx="1"/>
          </p:nvPr>
        </p:nvSpPr>
        <p:spPr bwMode="auto">
          <a:xfrm>
            <a:off x="892006" y="1874519"/>
            <a:ext cx="11023186" cy="3383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578485" lvl="1" indent="-285750" eaLnBrk="0" fontAlgn="base" hangingPunct="0">
              <a:lnSpc>
                <a:spcPct val="100000"/>
              </a:lnSpc>
              <a:spcBef>
                <a:spcPct val="0"/>
              </a:spcBef>
              <a:spcAft>
                <a:spcPct val="0"/>
              </a:spcAft>
              <a:buClrTx/>
              <a:buFont typeface="Arial" panose="020B0604020202090204" pitchFamily="34" charset="0"/>
              <a:buChar char="•"/>
            </a:pPr>
            <a:r>
              <a:rPr kumimoji="0" lang="en-US" altLang="en-US" sz="1500" b="1" i="0" u="none" strike="noStrike" cap="none" normalizeH="0" baseline="0" dirty="0">
                <a:ln>
                  <a:noFill/>
                </a:ln>
                <a:solidFill>
                  <a:schemeClr val="tx1">
                    <a:lumMod val="75000"/>
                    <a:lumOff val="25000"/>
                  </a:schemeClr>
                </a:solidFill>
                <a:effectLst/>
                <a:latin typeface="Arial" panose="020B0604020202090204" pitchFamily="34" charset="0"/>
              </a:rPr>
              <a:t>Authentication Module:</a:t>
            </a:r>
            <a:r>
              <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rPr>
              <a:t> Registration, login with email and password, protected routes, secure logout.</a:t>
            </a:r>
            <a:endPar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endPar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r>
              <a:rPr kumimoji="0" lang="en-US" altLang="en-US" sz="1500" b="1" i="0" u="none" strike="noStrike" cap="none" normalizeH="0" baseline="0" dirty="0">
                <a:ln>
                  <a:noFill/>
                </a:ln>
                <a:solidFill>
                  <a:schemeClr val="tx1">
                    <a:lumMod val="75000"/>
                    <a:lumOff val="25000"/>
                  </a:schemeClr>
                </a:solidFill>
                <a:effectLst/>
                <a:latin typeface="Arial" panose="020B0604020202090204" pitchFamily="34" charset="0"/>
              </a:rPr>
              <a:t>Friend Management Module:</a:t>
            </a:r>
            <a:r>
              <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rPr>
              <a:t> Send and accept friend requests, view friend list, manage connections.</a:t>
            </a:r>
            <a:endPar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endPar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r>
              <a:rPr kumimoji="0" lang="en-US" altLang="en-US" sz="1500" b="1" i="0" u="none" strike="noStrike" cap="none" normalizeH="0" baseline="0" dirty="0">
                <a:ln>
                  <a:noFill/>
                </a:ln>
                <a:solidFill>
                  <a:schemeClr val="tx1">
                    <a:lumMod val="75000"/>
                    <a:lumOff val="25000"/>
                  </a:schemeClr>
                </a:solidFill>
                <a:effectLst/>
                <a:latin typeface="Arial" panose="020B0604020202090204" pitchFamily="34" charset="0"/>
              </a:rPr>
              <a:t>Personal Chat Module:</a:t>
            </a:r>
            <a:r>
              <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rPr>
              <a:t> Real-time one-to-one messaging, chat history, unread count, online/offline status.</a:t>
            </a:r>
            <a:endPar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endPar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r>
              <a:rPr kumimoji="0" lang="en-US" altLang="en-US" sz="1500" b="1" i="0" u="none" strike="noStrike" cap="none" normalizeH="0" baseline="0" dirty="0">
                <a:ln>
                  <a:noFill/>
                </a:ln>
                <a:solidFill>
                  <a:schemeClr val="tx1">
                    <a:lumMod val="75000"/>
                    <a:lumOff val="25000"/>
                  </a:schemeClr>
                </a:solidFill>
                <a:effectLst/>
                <a:latin typeface="Arial" panose="020B0604020202090204" pitchFamily="34" charset="0"/>
              </a:rPr>
              <a:t>Group Module:</a:t>
            </a:r>
            <a:r>
              <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rPr>
              <a:t> Create groups, add or remove members, view members, delete group.</a:t>
            </a:r>
            <a:endPar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endPar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r>
              <a:rPr kumimoji="0" lang="en-US" altLang="en-US" sz="1500" b="1" i="0" u="none" strike="noStrike" cap="none" normalizeH="0" baseline="0" dirty="0">
                <a:ln>
                  <a:noFill/>
                </a:ln>
                <a:solidFill>
                  <a:schemeClr val="tx1">
                    <a:lumMod val="75000"/>
                    <a:lumOff val="25000"/>
                  </a:schemeClr>
                </a:solidFill>
                <a:effectLst/>
                <a:latin typeface="Arial" panose="020B0604020202090204" pitchFamily="34" charset="0"/>
              </a:rPr>
              <a:t>Real-Time Notification Module:</a:t>
            </a:r>
            <a:r>
              <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rPr>
              <a:t> Online/offline status, unread notifications, instant updates through Socket.io.</a:t>
            </a:r>
            <a:endPar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endPar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r>
              <a:rPr kumimoji="0" lang="en-US" altLang="en-US" sz="1500" b="1" i="0" u="none" strike="noStrike" cap="none" normalizeH="0" baseline="0" dirty="0">
                <a:ln>
                  <a:noFill/>
                </a:ln>
                <a:solidFill>
                  <a:schemeClr val="tx1">
                    <a:lumMod val="75000"/>
                    <a:lumOff val="25000"/>
                  </a:schemeClr>
                </a:solidFill>
                <a:effectLst/>
                <a:latin typeface="Arial" panose="020B0604020202090204" pitchFamily="34" charset="0"/>
              </a:rPr>
              <a:t>User Profile Module:</a:t>
            </a:r>
            <a:r>
              <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rPr>
              <a:t> View and update profile information and profile picture.</a:t>
            </a:r>
            <a:endParaRPr kumimoji="0" lang="en-US" altLang="en-US" sz="1500" b="0" i="0" u="none" strike="noStrike" cap="none" normalizeH="0" baseline="0" dirty="0">
              <a:ln>
                <a:noFill/>
              </a:ln>
              <a:solidFill>
                <a:schemeClr val="tx1">
                  <a:lumMod val="75000"/>
                  <a:lumOff val="25000"/>
                </a:schemeClr>
              </a:solidFill>
              <a:effectLst/>
              <a:latin typeface="Arial" panose="020B0604020202090204" pitchFamily="34" charset="0"/>
            </a:endParaRP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System Analysis</a:t>
            </a:r>
            <a:endParaRPr lang="en-IN" dirty="0"/>
          </a:p>
        </p:txBody>
      </p:sp>
      <p:sp>
        <p:nvSpPr>
          <p:cNvPr id="6" name="TextBox 5"/>
          <p:cNvSpPr txBox="1"/>
          <p:nvPr/>
        </p:nvSpPr>
        <p:spPr>
          <a:xfrm>
            <a:off x="1184988" y="2407298"/>
            <a:ext cx="3452327" cy="400110"/>
          </a:xfrm>
          <a:prstGeom prst="rect">
            <a:avLst/>
          </a:prstGeom>
          <a:noFill/>
        </p:spPr>
        <p:txBody>
          <a:bodyPr wrap="square" rtlCol="0">
            <a:spAutoFit/>
          </a:bodyPr>
          <a:lstStyle/>
          <a:p>
            <a:r>
              <a:rPr lang="en-US" sz="2000" b="1" dirty="0">
                <a:solidFill>
                  <a:schemeClr val="tx1">
                    <a:lumMod val="75000"/>
                    <a:lumOff val="25000"/>
                  </a:schemeClr>
                </a:solidFill>
              </a:rPr>
              <a:t>System Flowchart</a:t>
            </a:r>
            <a:endParaRPr lang="en-IN" sz="2000" b="1" dirty="0">
              <a:solidFill>
                <a:schemeClr val="tx1">
                  <a:lumMod val="75000"/>
                  <a:lumOff val="25000"/>
                </a:schemeClr>
              </a:solidFill>
            </a:endParaRPr>
          </a:p>
        </p:txBody>
      </p:sp>
      <p:pic>
        <p:nvPicPr>
          <p:cNvPr id="560662504" name="Picture 807" descr="System Analysis image"/>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a:xfrm>
            <a:off x="5976444" y="1828800"/>
            <a:ext cx="3683351" cy="4434840"/>
          </a:xfrm>
          <a:prstGeom prst="rect">
            <a:avLst/>
          </a:prstGeom>
          <a:noFill/>
          <a:ln>
            <a:noFill/>
          </a:ln>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System Analysis</a:t>
            </a:r>
            <a:endParaRPr lang="en-IN" dirty="0"/>
          </a:p>
        </p:txBody>
      </p:sp>
      <p:sp>
        <p:nvSpPr>
          <p:cNvPr id="6" name="TextBox 5"/>
          <p:cNvSpPr txBox="1"/>
          <p:nvPr/>
        </p:nvSpPr>
        <p:spPr>
          <a:xfrm>
            <a:off x="1184988" y="2407298"/>
            <a:ext cx="3452327" cy="400110"/>
          </a:xfrm>
          <a:prstGeom prst="rect">
            <a:avLst/>
          </a:prstGeom>
          <a:noFill/>
        </p:spPr>
        <p:txBody>
          <a:bodyPr wrap="square" rtlCol="0">
            <a:spAutoFit/>
          </a:bodyPr>
          <a:lstStyle/>
          <a:p>
            <a:r>
              <a:rPr lang="en-US" sz="2000" b="1" dirty="0">
                <a:solidFill>
                  <a:schemeClr val="tx1">
                    <a:lumMod val="75000"/>
                    <a:lumOff val="25000"/>
                  </a:schemeClr>
                </a:solidFill>
              </a:rPr>
              <a:t>Context Level DFD</a:t>
            </a:r>
            <a:endParaRPr lang="en-IN" sz="2000" b="1" dirty="0">
              <a:solidFill>
                <a:schemeClr val="tx1">
                  <a:lumMod val="75000"/>
                  <a:lumOff val="25000"/>
                </a:schemeClr>
              </a:solidFill>
            </a:endParaRPr>
          </a:p>
        </p:txBody>
      </p:sp>
      <p:pic>
        <p:nvPicPr>
          <p:cNvPr id="560662504" name="Picture 807" descr="System Analysis image"/>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a:xfrm>
            <a:off x="4251960" y="2383704"/>
            <a:ext cx="7132320" cy="3325031"/>
          </a:xfrm>
          <a:prstGeom prst="rect">
            <a:avLst/>
          </a:prstGeom>
          <a:noFill/>
          <a:ln>
            <a:noFill/>
          </a:ln>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System Analysis</a:t>
            </a:r>
            <a:endParaRPr lang="en-IN" dirty="0"/>
          </a:p>
        </p:txBody>
      </p:sp>
      <p:sp>
        <p:nvSpPr>
          <p:cNvPr id="6" name="TextBox 5"/>
          <p:cNvSpPr txBox="1"/>
          <p:nvPr/>
        </p:nvSpPr>
        <p:spPr>
          <a:xfrm>
            <a:off x="1184988" y="2407298"/>
            <a:ext cx="3452327" cy="400110"/>
          </a:xfrm>
          <a:prstGeom prst="rect">
            <a:avLst/>
          </a:prstGeom>
          <a:noFill/>
        </p:spPr>
        <p:txBody>
          <a:bodyPr wrap="square" rtlCol="0">
            <a:spAutoFit/>
          </a:bodyPr>
          <a:lstStyle/>
          <a:p>
            <a:r>
              <a:rPr lang="en-US" sz="2000" b="1" dirty="0">
                <a:solidFill>
                  <a:schemeClr val="tx1">
                    <a:lumMod val="75000"/>
                    <a:lumOff val="25000"/>
                  </a:schemeClr>
                </a:solidFill>
              </a:rPr>
              <a:t>First Level DFD</a:t>
            </a:r>
            <a:endParaRPr lang="en-IN" sz="2000" b="1" dirty="0">
              <a:solidFill>
                <a:schemeClr val="tx1">
                  <a:lumMod val="75000"/>
                  <a:lumOff val="25000"/>
                </a:schemeClr>
              </a:solidFill>
            </a:endParaRPr>
          </a:p>
        </p:txBody>
      </p:sp>
      <p:pic>
        <p:nvPicPr>
          <p:cNvPr id="560662504" name="Picture 807" descr="System Analysis image"/>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a:xfrm>
            <a:off x="5079975" y="1828800"/>
            <a:ext cx="5476289" cy="4434840"/>
          </a:xfrm>
          <a:prstGeom prst="rect">
            <a:avLst/>
          </a:prstGeom>
          <a:noFill/>
          <a:ln>
            <a:noFill/>
          </a:ln>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System Analysis</a:t>
            </a:r>
            <a:endParaRPr lang="en-IN" dirty="0"/>
          </a:p>
        </p:txBody>
      </p:sp>
      <p:sp>
        <p:nvSpPr>
          <p:cNvPr id="6" name="TextBox 5"/>
          <p:cNvSpPr txBox="1"/>
          <p:nvPr/>
        </p:nvSpPr>
        <p:spPr>
          <a:xfrm>
            <a:off x="1184988" y="2407298"/>
            <a:ext cx="3017520" cy="400110"/>
          </a:xfrm>
          <a:prstGeom prst="rect">
            <a:avLst/>
          </a:prstGeom>
          <a:noFill/>
        </p:spPr>
        <p:txBody>
          <a:bodyPr wrap="square" rtlCol="0">
            <a:spAutoFit/>
          </a:bodyPr>
          <a:lstStyle/>
          <a:p>
            <a:r>
              <a:rPr lang="en-US" sz="2000" b="1" dirty="0">
                <a:solidFill>
                  <a:schemeClr val="tx1">
                    <a:lumMod val="75000"/>
                    <a:lumOff val="25000"/>
                  </a:schemeClr>
                </a:solidFill>
              </a:rPr>
              <a:t>Second Level DFD</a:t>
            </a:r>
            <a:endParaRPr lang="en-IN" sz="2000" b="1" dirty="0">
              <a:solidFill>
                <a:schemeClr val="tx1">
                  <a:lumMod val="75000"/>
                  <a:lumOff val="25000"/>
                </a:schemeClr>
              </a:solidFill>
            </a:endParaRPr>
          </a:p>
          <a:p>
            <a:r>
              <a:rPr lang="en-US" sz="1400" b="0" dirty="0">
                <a:solidFill>
                  <a:schemeClr val="tx1">
                    <a:lumMod val="75000"/>
                    <a:lumOff val="25000"/>
                  </a:schemeClr>
                </a:solidFill>
              </a:rPr>
              <a:t>Process 1.0: User Authentication</a:t>
            </a:r>
            <a:endParaRPr lang="en-IN" sz="1400" b="1" dirty="0">
              <a:solidFill>
                <a:schemeClr val="tx1">
                  <a:lumMod val="75000"/>
                  <a:lumOff val="25000"/>
                </a:schemeClr>
              </a:solidFill>
            </a:endParaRPr>
          </a:p>
        </p:txBody>
      </p:sp>
      <p:pic>
        <p:nvPicPr>
          <p:cNvPr id="560662504" name="Picture 807" descr="System Analysis image"/>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a:xfrm>
            <a:off x="5520007" y="1828800"/>
            <a:ext cx="4596224" cy="4434840"/>
          </a:xfrm>
          <a:prstGeom prst="rect">
            <a:avLst/>
          </a:prstGeom>
          <a:noFill/>
          <a:ln>
            <a:noFill/>
          </a:ln>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System Analysis</a:t>
            </a:r>
            <a:endParaRPr lang="en-IN" dirty="0"/>
          </a:p>
        </p:txBody>
      </p:sp>
      <p:sp>
        <p:nvSpPr>
          <p:cNvPr id="6" name="TextBox 5"/>
          <p:cNvSpPr txBox="1"/>
          <p:nvPr/>
        </p:nvSpPr>
        <p:spPr>
          <a:xfrm>
            <a:off x="1184988" y="2407298"/>
            <a:ext cx="3017520" cy="400110"/>
          </a:xfrm>
          <a:prstGeom prst="rect">
            <a:avLst/>
          </a:prstGeom>
          <a:noFill/>
        </p:spPr>
        <p:txBody>
          <a:bodyPr wrap="square" rtlCol="0">
            <a:spAutoFit/>
          </a:bodyPr>
          <a:lstStyle/>
          <a:p>
            <a:r>
              <a:rPr lang="en-US" sz="2000" b="1" dirty="0">
                <a:solidFill>
                  <a:schemeClr val="tx1">
                    <a:lumMod val="75000"/>
                    <a:lumOff val="25000"/>
                  </a:schemeClr>
                </a:solidFill>
              </a:rPr>
              <a:t>Second Level DFD</a:t>
            </a:r>
            <a:endParaRPr lang="en-IN" sz="2000" b="1" dirty="0">
              <a:solidFill>
                <a:schemeClr val="tx1">
                  <a:lumMod val="75000"/>
                  <a:lumOff val="25000"/>
                </a:schemeClr>
              </a:solidFill>
            </a:endParaRPr>
          </a:p>
          <a:p>
            <a:r>
              <a:rPr lang="en-US" sz="1400" b="0" dirty="0">
                <a:solidFill>
                  <a:schemeClr val="tx1">
                    <a:lumMod val="75000"/>
                    <a:lumOff val="25000"/>
                  </a:schemeClr>
                </a:solidFill>
              </a:rPr>
              <a:t>Process 3.0: Chat and Group Management</a:t>
            </a:r>
            <a:endParaRPr lang="en-IN" sz="1400" b="1" dirty="0">
              <a:solidFill>
                <a:schemeClr val="tx1">
                  <a:lumMod val="75000"/>
                  <a:lumOff val="25000"/>
                </a:schemeClr>
              </a:solidFill>
            </a:endParaRPr>
          </a:p>
        </p:txBody>
      </p:sp>
      <p:pic>
        <p:nvPicPr>
          <p:cNvPr id="560662504" name="Picture 807" descr="System Analysis image"/>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a:xfrm>
            <a:off x="4251960" y="1913516"/>
            <a:ext cx="7132320" cy="4265407"/>
          </a:xfrm>
          <a:prstGeom prst="rect">
            <a:avLst/>
          </a:prstGeom>
          <a:noFill/>
          <a:ln>
            <a:noFill/>
          </a:ln>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System Analysis</a:t>
            </a:r>
            <a:endParaRPr lang="en-IN" dirty="0"/>
          </a:p>
        </p:txBody>
      </p:sp>
      <p:sp>
        <p:nvSpPr>
          <p:cNvPr id="6" name="TextBox 5"/>
          <p:cNvSpPr txBox="1"/>
          <p:nvPr/>
        </p:nvSpPr>
        <p:spPr>
          <a:xfrm>
            <a:off x="1184988" y="2407298"/>
            <a:ext cx="3017520" cy="400110"/>
          </a:xfrm>
          <a:prstGeom prst="rect">
            <a:avLst/>
          </a:prstGeom>
          <a:noFill/>
        </p:spPr>
        <p:txBody>
          <a:bodyPr wrap="square" rtlCol="0">
            <a:spAutoFit/>
          </a:bodyPr>
          <a:lstStyle/>
          <a:p>
            <a:r>
              <a:rPr lang="en-US" sz="2000" b="1" dirty="0">
                <a:solidFill>
                  <a:schemeClr val="tx1">
                    <a:lumMod val="75000"/>
                    <a:lumOff val="25000"/>
                  </a:schemeClr>
                </a:solidFill>
              </a:rPr>
              <a:t>Second Level DFD</a:t>
            </a:r>
            <a:endParaRPr lang="en-IN" sz="2000" b="1" dirty="0">
              <a:solidFill>
                <a:schemeClr val="tx1">
                  <a:lumMod val="75000"/>
                  <a:lumOff val="25000"/>
                </a:schemeClr>
              </a:solidFill>
            </a:endParaRPr>
          </a:p>
          <a:p>
            <a:r>
              <a:rPr lang="en-US" sz="1400" b="0" dirty="0">
                <a:solidFill>
                  <a:schemeClr val="tx1">
                    <a:lumMod val="75000"/>
                    <a:lumOff val="25000"/>
                  </a:schemeClr>
                </a:solidFill>
              </a:rPr>
              <a:t>Process 4.0: Messages</a:t>
            </a:r>
            <a:endParaRPr lang="en-IN" sz="1400" b="1" dirty="0">
              <a:solidFill>
                <a:schemeClr val="tx1">
                  <a:lumMod val="75000"/>
                  <a:lumOff val="25000"/>
                </a:schemeClr>
              </a:solidFill>
            </a:endParaRPr>
          </a:p>
        </p:txBody>
      </p:sp>
      <p:pic>
        <p:nvPicPr>
          <p:cNvPr id="560662504" name="Picture 807" descr="System Analysis image"/>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a:xfrm>
            <a:off x="4251960" y="1921454"/>
            <a:ext cx="7132320" cy="4249530"/>
          </a:xfrm>
          <a:prstGeom prst="rect">
            <a:avLst/>
          </a:prstGeom>
          <a:noFill/>
          <a:ln>
            <a:noFill/>
          </a:ln>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p>
            <a:r>
              <a:rPr lang="en-US">
                <a:sym typeface="+mn-ea"/>
              </a:rPr>
              <a:t>Data Dictionary</a:t>
            </a:r>
            <a:endParaRPr lang="en-US"/>
          </a:p>
        </p:txBody>
      </p:sp>
      <p:sp>
        <p:nvSpPr>
          <p:cNvPr id="901" name="Label 1"/>
          <p:cNvSpPr txBox="1"/>
          <p:nvPr/>
        </p:nvSpPr>
        <p:spPr>
          <a:xfrm>
            <a:off x="1097280" y="1828800"/>
            <a:ext cx="5486400" cy="365760"/>
          </a:xfrm>
          <a:prstGeom prst="rect">
            <a:avLst/>
          </a:prstGeom>
          <a:noFill/>
        </p:spPr>
        <p:txBody>
          <a:bodyPr wrap="square" rtlCol="0">
            <a:spAutoFit/>
          </a:bodyPr>
          <a:lstStyle/>
          <a:p>
            <a:pPr marL="285750" indent="-285750">
              <a:buFont typeface="Wingdings" panose="05000000000000000000" charset="0"/>
              <a:buChar char=""/>
            </a:pPr>
            <a:r>
              <a:rPr lang="en-US" altLang="en-US" b="1" dirty="0" sz="1600">
                <a:ln>
                  <a:noFill/>
                </a:ln>
                <a:solidFill>
                  <a:schemeClr val="tx1">
                    <a:lumMod val="75000"/>
                    <a:lumOff val="25000"/>
                  </a:schemeClr>
                </a:solidFill>
                <a:effectLst/>
                <a:latin typeface="Arial" panose="020B0604020202090204" pitchFamily="34" charset="0"/>
                <a:sym typeface="+mn-ea"/>
              </a:rPr>
              <a:t>User Table:</a:t>
            </a:r>
            <a:endParaRPr lang="en-US" altLang="en-US" b="1" dirty="0" sz="1600">
              <a:ln>
                <a:noFill/>
              </a:ln>
              <a:solidFill>
                <a:schemeClr val="tx1">
                  <a:lumMod val="75000"/>
                  <a:lumOff val="25000"/>
                </a:schemeClr>
              </a:solidFill>
              <a:effectLst/>
              <a:latin typeface="Arial" panose="020B0604020202090204" pitchFamily="34" charset="0"/>
              <a:sym typeface="+mn-ea"/>
            </a:endParaRPr>
          </a:p>
        </p:txBody>
      </p:sp>
      <p:graphicFrame>
        <p:nvGraphicFramePr>
          <p:cNvPr id="902" name="Table 901"/>
          <p:cNvGraphicFramePr>
            <a:graphicFrameLocks noGrp="1"/>
          </p:cNvGraphicFramePr>
          <p:nvPr/>
        </p:nvGraphicFramePr>
        <p:xfrm>
          <a:off x="1280160" y="2286000"/>
          <a:ext cx="9601200" cy="2962656"/>
        </p:xfrm>
        <a:graphic>
          <a:graphicData uri="http://schemas.openxmlformats.org/drawingml/2006/table">
            <a:tbl>
              <a:tblPr/>
              <a:tblGrid>
                <a:gridCol w="2651760"/>
                <a:gridCol w="1828800"/>
                <a:gridCol w="2377440"/>
                <a:gridCol w="2743200"/>
              </a:tblGrid>
              <a:tr h="329184">
                <a:tc>
                  <a:txBody>
                    <a:bodyPr/>
                    <a:lstStyle/>
                    <a:p>
                      <a:r>
                        <a:rPr sz="1400" b="1">
                          <a:latin typeface="Times New Roman"/>
                        </a:rPr>
                        <a:t>Column</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400" b="1">
                          <a:latin typeface="Times New Roman"/>
                        </a:rPr>
                        <a:t>Type</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400" b="1">
                          <a:latin typeface="Times New Roman"/>
                        </a:rPr>
                        <a:t>Constraint</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400" b="1">
                          <a:latin typeface="Times New Roman"/>
                        </a:rPr>
                        <a:t>Enum</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r>
              <a:tr h="329184">
                <a:tc>
                  <a:txBody>
                    <a:bodyPr/>
                    <a:lstStyle/>
                    <a:p>
                      <a:r>
                        <a:rPr sz="1400" b="0">
                          <a:latin typeface="Times New Roman"/>
                        </a:rPr>
                        <a:t>Name</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400" b="0">
                          <a:latin typeface="Times New Roman"/>
                        </a:rPr>
                        <a:t>String</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400" b="0">
                          <a:latin typeface="Times New Roman"/>
                        </a:rPr>
                        <a:t>Required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400" b="0">
                          <a:latin typeface="Times New Roman"/>
                        </a:rPr>
                        <a: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29184">
                <a:tc>
                  <a:txBody>
                    <a:bodyPr/>
                    <a:lstStyle/>
                    <a:p>
                      <a:r>
                        <a:rPr sz="1400" b="0">
                          <a:latin typeface="Times New Roman"/>
                        </a:rPr>
                        <a:t>userverified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400" b="0">
                          <a:latin typeface="Times New Roman"/>
                        </a:rPr>
                        <a:t>Boolean</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400" b="0">
                          <a:latin typeface="Times New Roman"/>
                        </a:rPr>
                        <a:t>Optional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400" b="0">
                          <a:latin typeface="Times New Roman"/>
                        </a:rPr>
                        <a:t>Default: false</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29184">
                <a:tc>
                  <a:txBody>
                    <a:bodyPr/>
                    <a:lstStyle/>
                    <a:p>
                      <a:r>
                        <a:rPr sz="1400" b="0">
                          <a:latin typeface="Times New Roman"/>
                        </a:rPr>
                        <a:t>username</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400" b="0">
                          <a:latin typeface="Times New Roman"/>
                        </a:rPr>
                        <a:t>String</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400" b="0">
                          <a:latin typeface="Times New Roman"/>
                        </a:rPr>
                        <a:t>Required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400" b="0">
                          <a:latin typeface="Times New Roman"/>
                        </a:rPr>
                        <a: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29184">
                <a:tc>
                  <a:txBody>
                    <a:bodyPr/>
                    <a:lstStyle/>
                    <a:p>
                      <a:r>
                        <a:rPr sz="1400" b="0">
                          <a:latin typeface="Times New Roman"/>
                        </a:rPr>
                        <a:t>Email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400" b="0">
                          <a:latin typeface="Times New Roman"/>
                        </a:rPr>
                        <a:t>String</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400" b="0">
                          <a:latin typeface="Times New Roman"/>
                        </a:rPr>
                        <a:t>Required,Unique</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400" b="0">
                          <a:latin typeface="Times New Roman"/>
                        </a:rPr>
                        <a: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29184">
                <a:tc>
                  <a:txBody>
                    <a:bodyPr/>
                    <a:lstStyle/>
                    <a:p>
                      <a:r>
                        <a:rPr sz="1400" b="0">
                          <a:latin typeface="Times New Roman"/>
                        </a:rPr>
                        <a:t>password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400" b="0">
                          <a:latin typeface="Times New Roman"/>
                        </a:rPr>
                        <a:t>String</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400" b="0">
                          <a:latin typeface="Times New Roman"/>
                        </a:rPr>
                        <a:t>Required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400" b="0">
                          <a:latin typeface="Times New Roman"/>
                        </a:rPr>
                        <a:t>select: false</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29184">
                <a:tc>
                  <a:txBody>
                    <a:bodyPr/>
                    <a:lstStyle/>
                    <a:p>
                      <a:r>
                        <a:rPr sz="1400" b="0">
                          <a:latin typeface="Times New Roman"/>
                        </a:rPr>
                        <a:t>avatar.public_id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400" b="0">
                          <a:latin typeface="Times New Roman"/>
                        </a:rPr>
                        <a:t>String</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400" b="0">
                          <a:latin typeface="Times New Roman"/>
                        </a:rPr>
                        <a:t>Required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400" b="0">
                          <a:latin typeface="Times New Roman"/>
                        </a:rPr>
                        <a: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29184">
                <a:tc>
                  <a:txBody>
                    <a:bodyPr/>
                    <a:lstStyle/>
                    <a:p>
                      <a:r>
                        <a:rPr sz="1400" b="0">
                          <a:latin typeface="Times New Roman"/>
                        </a:rPr>
                        <a:t>avatar.url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400" b="0">
                          <a:latin typeface="Times New Roman"/>
                        </a:rPr>
                        <a:t>Boolean</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400" b="0">
                          <a:latin typeface="Times New Roman"/>
                        </a:rPr>
                        <a:t>Required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400" b="0">
                          <a:latin typeface="Times New Roman"/>
                        </a:rPr>
                        <a: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29184">
                <a:tc>
                  <a:txBody>
                    <a:bodyPr/>
                    <a:lstStyle/>
                    <a:p>
                      <a:r>
                        <a:rPr sz="1400" b="0">
                          <a:latin typeface="Times New Roman"/>
                        </a:rPr>
                        <a:t>bio</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400" b="0">
                          <a:latin typeface="Times New Roman"/>
                        </a:rPr>
                        <a:t>String</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400" b="0">
                          <a:latin typeface="Times New Roman"/>
                        </a:rPr>
                        <a:t>Required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400" b="0">
                          <a:latin typeface="Times New Roman"/>
                        </a:rPr>
                        <a: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p>
            <a:r>
              <a:rPr lang="en-US">
                <a:sym typeface="+mn-ea"/>
              </a:rPr>
              <a:t>Data Dictionary</a:t>
            </a:r>
            <a:endParaRPr lang="en-US"/>
          </a:p>
        </p:txBody>
      </p:sp>
      <p:sp>
        <p:nvSpPr>
          <p:cNvPr id="901" name="Label 1"/>
          <p:cNvSpPr txBox="1"/>
          <p:nvPr/>
        </p:nvSpPr>
        <p:spPr>
          <a:xfrm>
            <a:off x="1097280" y="1828800"/>
            <a:ext cx="5486400" cy="365760"/>
          </a:xfrm>
          <a:prstGeom prst="rect">
            <a:avLst/>
          </a:prstGeom>
          <a:noFill/>
        </p:spPr>
        <p:txBody>
          <a:bodyPr wrap="square" rtlCol="0">
            <a:spAutoFit/>
          </a:bodyPr>
          <a:lstStyle/>
          <a:p>
            <a:pPr marL="285750" indent="-285750">
              <a:buFont typeface="Wingdings" panose="05000000000000000000" charset="0"/>
              <a:buChar char=""/>
            </a:pPr>
            <a:r>
              <a:rPr lang="en-US" altLang="en-US" b="1" dirty="0" sz="1600">
                <a:ln>
                  <a:noFill/>
                </a:ln>
                <a:solidFill>
                  <a:schemeClr val="tx1">
                    <a:lumMod val="75000"/>
                    <a:lumOff val="25000"/>
                  </a:schemeClr>
                </a:solidFill>
                <a:effectLst/>
                <a:latin typeface="Arial" panose="020B0604020202090204" pitchFamily="34" charset="0"/>
                <a:sym typeface="+mn-ea"/>
              </a:rPr>
              <a:t>Chat Table:</a:t>
            </a:r>
            <a:endParaRPr lang="en-US" altLang="en-US" b="1" dirty="0" sz="1600">
              <a:ln>
                <a:noFill/>
              </a:ln>
              <a:solidFill>
                <a:schemeClr val="tx1">
                  <a:lumMod val="75000"/>
                  <a:lumOff val="25000"/>
                </a:schemeClr>
              </a:solidFill>
              <a:effectLst/>
              <a:latin typeface="Arial" panose="020B0604020202090204" pitchFamily="34" charset="0"/>
              <a:sym typeface="+mn-ea"/>
            </a:endParaRPr>
          </a:p>
        </p:txBody>
      </p:sp>
      <p:graphicFrame>
        <p:nvGraphicFramePr>
          <p:cNvPr id="902" name="Table 901"/>
          <p:cNvGraphicFramePr>
            <a:graphicFrameLocks noGrp="1"/>
          </p:cNvGraphicFramePr>
          <p:nvPr/>
        </p:nvGraphicFramePr>
        <p:xfrm>
          <a:off x="1280160" y="2286000"/>
          <a:ext cx="5029200" cy="2084832"/>
        </p:xfrm>
        <a:graphic>
          <a:graphicData uri="http://schemas.openxmlformats.org/drawingml/2006/table">
            <a:tbl>
              <a:tblPr/>
              <a:tblGrid>
                <a:gridCol w="1188720"/>
                <a:gridCol w="1371600"/>
                <a:gridCol w="914400"/>
                <a:gridCol w="1554480"/>
              </a:tblGrid>
              <a:tr h="347472">
                <a:tc>
                  <a:txBody>
                    <a:bodyPr/>
                    <a:lstStyle/>
                    <a:p>
                      <a:r>
                        <a:rPr sz="1200" b="1">
                          <a:latin typeface="Times New Roman"/>
                        </a:rPr>
                        <a:t>Column</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Type</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Constraint</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Enum</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r>
              <a:tr h="347472">
                <a:tc>
                  <a:txBody>
                    <a:bodyPr/>
                    <a:lstStyle/>
                    <a:p>
                      <a:r>
                        <a:rPr sz="1200" b="0">
                          <a:latin typeface="Times New Roman"/>
                        </a:rPr>
                        <a:t>Name</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Sting</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Required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47472">
                <a:tc>
                  <a:txBody>
                    <a:bodyPr/>
                    <a:lstStyle/>
                    <a:p>
                      <a:r>
                        <a:rPr sz="1200" b="0">
                          <a:latin typeface="Times New Roman"/>
                        </a:rPr>
                        <a:t>groupchat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Boolean</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Optional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Default: false</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47472">
                <a:tc>
                  <a:txBody>
                    <a:bodyPr/>
                    <a:lstStyle/>
                    <a:p>
                      <a:r>
                        <a:rPr sz="1200" b="0">
                          <a:latin typeface="Times New Roman"/>
                        </a:rPr>
                        <a:t>creator</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ObjectId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Optional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Ref: "Users"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47472">
                <a:tc>
                  <a:txBody>
                    <a:bodyPr/>
                    <a:lstStyle/>
                    <a:p>
                      <a:r>
                        <a:rPr sz="1200" b="0">
                          <a:latin typeface="Times New Roman"/>
                        </a:rPr>
                        <a:t>member</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Array of ObjectId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Optional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Ref: "Users"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47472">
                <a:tc>
                  <a:txBody>
                    <a:bodyPr/>
                    <a:lstStyle/>
                    <a:p>
                      <a:r>
                        <a:rPr sz="1200" b="0">
                          <a:latin typeface="Times New Roman"/>
                        </a:rPr>
                        <a:t>timestamps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Auto-generated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Required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CreatedAt, UpdatedAt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bl>
          </a:graphicData>
        </a:graphic>
      </p:graphicFrame>
      <p:sp>
        <p:nvSpPr>
          <p:cNvPr id="903" name="Label 3"/>
          <p:cNvSpPr txBox="1"/>
          <p:nvPr/>
        </p:nvSpPr>
        <p:spPr>
          <a:xfrm>
            <a:off x="6309360" y="1828800"/>
            <a:ext cx="5486400" cy="365760"/>
          </a:xfrm>
          <a:prstGeom prst="rect">
            <a:avLst/>
          </a:prstGeom>
          <a:noFill/>
        </p:spPr>
        <p:txBody>
          <a:bodyPr wrap="square" rtlCol="0">
            <a:spAutoFit/>
          </a:bodyPr>
          <a:lstStyle/>
          <a:p>
            <a:pPr marL="285750" indent="-285750">
              <a:buFont typeface="Wingdings" panose="05000000000000000000" charset="0"/>
              <a:buChar char=""/>
            </a:pPr>
            <a:r>
              <a:rPr lang="en-US" altLang="en-US" b="1" dirty="0" sz="1600">
                <a:ln>
                  <a:noFill/>
                </a:ln>
                <a:solidFill>
                  <a:schemeClr val="tx1">
                    <a:lumMod val="75000"/>
                    <a:lumOff val="25000"/>
                  </a:schemeClr>
                </a:solidFill>
                <a:effectLst/>
                <a:latin typeface="Arial" panose="020B0604020202090204" pitchFamily="34" charset="0"/>
                <a:sym typeface="+mn-ea"/>
              </a:rPr>
              <a:t>Message Table:</a:t>
            </a:r>
            <a:endParaRPr lang="en-US" altLang="en-US" b="1" dirty="0" sz="1600">
              <a:ln>
                <a:noFill/>
              </a:ln>
              <a:solidFill>
                <a:schemeClr val="tx1">
                  <a:lumMod val="75000"/>
                  <a:lumOff val="25000"/>
                </a:schemeClr>
              </a:solidFill>
              <a:effectLst/>
              <a:latin typeface="Arial" panose="020B0604020202090204" pitchFamily="34" charset="0"/>
              <a:sym typeface="+mn-ea"/>
            </a:endParaRPr>
          </a:p>
        </p:txBody>
      </p:sp>
      <p:graphicFrame>
        <p:nvGraphicFramePr>
          <p:cNvPr id="904" name="Table 903"/>
          <p:cNvGraphicFramePr>
            <a:graphicFrameLocks noGrp="1"/>
          </p:cNvGraphicFramePr>
          <p:nvPr/>
        </p:nvGraphicFramePr>
        <p:xfrm>
          <a:off x="6492240" y="2286000"/>
          <a:ext cx="4937760" cy="2432304"/>
        </p:xfrm>
        <a:graphic>
          <a:graphicData uri="http://schemas.openxmlformats.org/drawingml/2006/table">
            <a:tbl>
              <a:tblPr/>
              <a:tblGrid>
                <a:gridCol w="1783080"/>
                <a:gridCol w="1005840"/>
                <a:gridCol w="868680"/>
                <a:gridCol w="1280160"/>
              </a:tblGrid>
              <a:tr h="347472">
                <a:tc>
                  <a:txBody>
                    <a:bodyPr/>
                    <a:lstStyle/>
                    <a:p>
                      <a:r>
                        <a:rPr sz="1200" b="1">
                          <a:latin typeface="Times New Roman"/>
                        </a:rPr>
                        <a:t>Column</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Type</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Constraint</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Enum</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r>
              <a:tr h="347472">
                <a:tc>
                  <a:txBody>
                    <a:bodyPr/>
                    <a:lstStyle/>
                    <a:p>
                      <a:r>
                        <a:rPr sz="1200" b="0">
                          <a:latin typeface="Times New Roman"/>
                        </a:rPr>
                        <a:t>content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String</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Optional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47472">
                <a:tc>
                  <a:txBody>
                    <a:bodyPr/>
                    <a:lstStyle/>
                    <a:p>
                      <a:r>
                        <a:rPr sz="1200" b="0">
                          <a:latin typeface="Times New Roman"/>
                        </a:rPr>
                        <a:t>attachments.public_id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String</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Required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47472">
                <a:tc>
                  <a:txBody>
                    <a:bodyPr/>
                    <a:lstStyle/>
                    <a:p>
                      <a:r>
                        <a:rPr sz="1200" b="0">
                          <a:latin typeface="Times New Roman"/>
                        </a:rPr>
                        <a:t>attachments.url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String</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Required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47472">
                <a:tc>
                  <a:txBody>
                    <a:bodyPr/>
                    <a:lstStyle/>
                    <a:p>
                      <a:r>
                        <a:rPr sz="1200" b="0">
                          <a:latin typeface="Times New Roman"/>
                        </a:rPr>
                        <a:t>sender</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ObjectId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Required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Ref: "Users"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47472">
                <a:tc>
                  <a:txBody>
                    <a:bodyPr/>
                    <a:lstStyle/>
                    <a:p>
                      <a:r>
                        <a:rPr sz="1200" b="0">
                          <a:latin typeface="Times New Roman"/>
                        </a:rPr>
                        <a:t>chat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ObjectId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Required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Ref: "Users"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47472">
                <a:tc>
                  <a:txBody>
                    <a:bodyPr/>
                    <a:lstStyle/>
                    <a:p>
                      <a:r>
                        <a:rPr sz="1200" b="0">
                          <a:latin typeface="Times New Roman"/>
                        </a:rPr>
                        <a:t>timestamps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Auto-generated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Required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CreatedAt, UpdatedAt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p>
            <a:r>
              <a:rPr lang="en-US">
                <a:sym typeface="+mn-ea"/>
              </a:rPr>
              <a:t>Data Dictionary</a:t>
            </a:r>
            <a:endParaRPr lang="en-US"/>
          </a:p>
        </p:txBody>
      </p:sp>
      <p:sp>
        <p:nvSpPr>
          <p:cNvPr id="901" name="Label 1"/>
          <p:cNvSpPr txBox="1"/>
          <p:nvPr/>
        </p:nvSpPr>
        <p:spPr>
          <a:xfrm>
            <a:off x="1097280" y="1828800"/>
            <a:ext cx="5486400" cy="365760"/>
          </a:xfrm>
          <a:prstGeom prst="rect">
            <a:avLst/>
          </a:prstGeom>
          <a:noFill/>
        </p:spPr>
        <p:txBody>
          <a:bodyPr wrap="square" rtlCol="0">
            <a:spAutoFit/>
          </a:bodyPr>
          <a:lstStyle/>
          <a:p>
            <a:pPr marL="285750" indent="-285750">
              <a:buFont typeface="Wingdings" panose="05000000000000000000" charset="0"/>
              <a:buChar char=""/>
            </a:pPr>
            <a:r>
              <a:rPr lang="en-US" altLang="en-US" b="1" dirty="0" sz="1600">
                <a:ln>
                  <a:noFill/>
                </a:ln>
                <a:solidFill>
                  <a:schemeClr val="tx1">
                    <a:lumMod val="75000"/>
                    <a:lumOff val="25000"/>
                  </a:schemeClr>
                </a:solidFill>
                <a:effectLst/>
                <a:latin typeface="Arial" panose="020B0604020202090204" pitchFamily="34" charset="0"/>
                <a:sym typeface="+mn-ea"/>
              </a:rPr>
              <a:t>OTP Table:</a:t>
            </a:r>
            <a:endParaRPr lang="en-US" altLang="en-US" b="1" dirty="0" sz="1600">
              <a:ln>
                <a:noFill/>
              </a:ln>
              <a:solidFill>
                <a:schemeClr val="tx1">
                  <a:lumMod val="75000"/>
                  <a:lumOff val="25000"/>
                </a:schemeClr>
              </a:solidFill>
              <a:effectLst/>
              <a:latin typeface="Arial" panose="020B0604020202090204" pitchFamily="34" charset="0"/>
              <a:sym typeface="+mn-ea"/>
            </a:endParaRPr>
          </a:p>
        </p:txBody>
      </p:sp>
      <p:graphicFrame>
        <p:nvGraphicFramePr>
          <p:cNvPr id="902" name="Table 901"/>
          <p:cNvGraphicFramePr>
            <a:graphicFrameLocks noGrp="1"/>
          </p:cNvGraphicFramePr>
          <p:nvPr/>
        </p:nvGraphicFramePr>
        <p:xfrm>
          <a:off x="1280160" y="2286000"/>
          <a:ext cx="4846320" cy="1737360"/>
        </p:xfrm>
        <a:graphic>
          <a:graphicData uri="http://schemas.openxmlformats.org/drawingml/2006/table">
            <a:tbl>
              <a:tblPr/>
              <a:tblGrid>
                <a:gridCol w="914400"/>
                <a:gridCol w="1005840"/>
                <a:gridCol w="914400"/>
                <a:gridCol w="2011680"/>
              </a:tblGrid>
              <a:tr h="347472">
                <a:tc>
                  <a:txBody>
                    <a:bodyPr/>
                    <a:lstStyle/>
                    <a:p>
                      <a:r>
                        <a:rPr sz="1200" b="1">
                          <a:latin typeface="Times New Roman"/>
                        </a:rPr>
                        <a:t>Column</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Type</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Constraint</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Enum</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r>
              <a:tr h="347472">
                <a:tc>
                  <a:txBody>
                    <a:bodyPr/>
                    <a:lstStyle/>
                    <a:p>
                      <a:r>
                        <a:rPr sz="1200" b="0">
                          <a:latin typeface="Times New Roman"/>
                        </a:rPr>
                        <a:t>email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String</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Required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47472">
                <a:tc>
                  <a:txBody>
                    <a:bodyPr/>
                    <a:lstStyle/>
                    <a:p>
                      <a:r>
                        <a:rPr sz="1200" b="0">
                          <a:latin typeface="Times New Roman"/>
                        </a:rPr>
                        <a:t>category</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String</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Required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Enum: ["register", "forget-password"]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47472">
                <a:tc>
                  <a:txBody>
                    <a:bodyPr/>
                    <a:lstStyle/>
                    <a:p>
                      <a:r>
                        <a:rPr sz="1200" b="0">
                          <a:latin typeface="Times New Roman"/>
                        </a:rPr>
                        <a:t>Otp</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Number</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Enum: tokenStatus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47472">
                <a:tc>
                  <a:txBody>
                    <a:bodyPr/>
                    <a:lstStyle/>
                    <a:p>
                      <a:r>
                        <a:rPr sz="1200" b="0">
                          <a:latin typeface="Times New Roman"/>
                        </a:rPr>
                        <a:t>timestamps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Auto-generated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Required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CreatedAt, UpdatedAt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bl>
          </a:graphicData>
        </a:graphic>
      </p:graphicFrame>
      <p:sp>
        <p:nvSpPr>
          <p:cNvPr id="903" name="Label 3"/>
          <p:cNvSpPr txBox="1"/>
          <p:nvPr/>
        </p:nvSpPr>
        <p:spPr>
          <a:xfrm>
            <a:off x="6126480" y="1828800"/>
            <a:ext cx="5486400" cy="365760"/>
          </a:xfrm>
          <a:prstGeom prst="rect">
            <a:avLst/>
          </a:prstGeom>
          <a:noFill/>
        </p:spPr>
        <p:txBody>
          <a:bodyPr wrap="square" rtlCol="0">
            <a:spAutoFit/>
          </a:bodyPr>
          <a:lstStyle/>
          <a:p>
            <a:pPr marL="285750" indent="-285750">
              <a:buFont typeface="Wingdings" panose="05000000000000000000" charset="0"/>
              <a:buChar char=""/>
            </a:pPr>
            <a:r>
              <a:rPr lang="en-US" altLang="en-US" b="1" dirty="0" sz="1600">
                <a:ln>
                  <a:noFill/>
                </a:ln>
                <a:solidFill>
                  <a:schemeClr val="tx1">
                    <a:lumMod val="75000"/>
                    <a:lumOff val="25000"/>
                  </a:schemeClr>
                </a:solidFill>
                <a:effectLst/>
                <a:latin typeface="Arial" panose="020B0604020202090204" pitchFamily="34" charset="0"/>
                <a:sym typeface="+mn-ea"/>
              </a:rPr>
              <a:t>Request Table:</a:t>
            </a:r>
            <a:endParaRPr lang="en-US" altLang="en-US" b="1" dirty="0" sz="1600">
              <a:ln>
                <a:noFill/>
              </a:ln>
              <a:solidFill>
                <a:schemeClr val="tx1">
                  <a:lumMod val="75000"/>
                  <a:lumOff val="25000"/>
                </a:schemeClr>
              </a:solidFill>
              <a:effectLst/>
              <a:latin typeface="Arial" panose="020B0604020202090204" pitchFamily="34" charset="0"/>
              <a:sym typeface="+mn-ea"/>
            </a:endParaRPr>
          </a:p>
        </p:txBody>
      </p:sp>
      <p:graphicFrame>
        <p:nvGraphicFramePr>
          <p:cNvPr id="904" name="Table 903"/>
          <p:cNvGraphicFramePr>
            <a:graphicFrameLocks noGrp="1"/>
          </p:cNvGraphicFramePr>
          <p:nvPr/>
        </p:nvGraphicFramePr>
        <p:xfrm>
          <a:off x="6309360" y="2286000"/>
          <a:ext cx="5303520" cy="2084832"/>
        </p:xfrm>
        <a:graphic>
          <a:graphicData uri="http://schemas.openxmlformats.org/drawingml/2006/table">
            <a:tbl>
              <a:tblPr/>
              <a:tblGrid>
                <a:gridCol w="914400"/>
                <a:gridCol w="1005840"/>
                <a:gridCol w="914400"/>
                <a:gridCol w="2468880"/>
              </a:tblGrid>
              <a:tr h="347472">
                <a:tc>
                  <a:txBody>
                    <a:bodyPr/>
                    <a:lstStyle/>
                    <a:p>
                      <a:r>
                        <a:rPr sz="1200" b="1">
                          <a:latin typeface="Times New Roman"/>
                        </a:rPr>
                        <a:t>Column</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Type</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Constraint</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Enum</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r>
              <a:tr h="347472">
                <a:tc>
                  <a:txBody>
                    <a:bodyPr/>
                    <a:lstStyle/>
                    <a:p>
                      <a:r>
                        <a:rPr sz="1200" b="0">
                          <a:latin typeface="Times New Roman"/>
                        </a:rPr>
                        <a:t>status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String</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Optional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Enum: ["pending", "accepted", "rejected"], Default: "pending"</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47472">
                <a:tc>
                  <a:txBody>
                    <a:bodyPr/>
                    <a:lstStyle/>
                    <a:p>
                      <a:r>
                        <a:rPr sz="1200" b="0">
                          <a:latin typeface="Times New Roman"/>
                        </a:rPr>
                        <a:t>sender</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ObjectId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Required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Ref: "Users"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47472">
                <a:tc>
                  <a:txBody>
                    <a:bodyPr/>
                    <a:lstStyle/>
                    <a:p>
                      <a:r>
                        <a:rPr sz="1200" b="0">
                          <a:latin typeface="Times New Roman"/>
                        </a:rPr>
                        <a:t>chat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ObjectId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Optional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Ref: "Users"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47472">
                <a:tc>
                  <a:txBody>
                    <a:bodyPr/>
                    <a:lstStyle/>
                    <a:p>
                      <a:r>
                        <a:rPr sz="1200" b="0">
                          <a:latin typeface="Times New Roman"/>
                        </a:rPr>
                        <a:t>receiver</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ObjectId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Required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Ref: "Users"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47472">
                <a:tc>
                  <a:txBody>
                    <a:bodyPr/>
                    <a:lstStyle/>
                    <a:p>
                      <a:r>
                        <a:rPr sz="1200" b="0">
                          <a:latin typeface="Times New Roman"/>
                        </a:rPr>
                        <a:t>timestamps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Auto-generated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Required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CreatedAt, UpdatedAt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Screen Layout: Login and Signup</a:t>
            </a:r>
            <a:endParaRPr lang="en-IN" dirty="0"/>
          </a:p>
        </p:txBody>
      </p:sp>
      <p:pic>
        <p:nvPicPr>
          <p:cNvPr id="4" name="Content Placeholder 3" descr="Screen Layout: Login and Signup image"/>
          <p:cNvPicPr>
            <a:picLocks noGrp="1" noChangeAspect="1"/>
          </p:cNvPicPr>
          <p:nvPr>
            <p:ph idx="1"/>
          </p:nvPr>
        </p:nvPicPr>
        <p:blipFill>
          <a:blip r:embed="rId4"/>
          <a:stretch>
            <a:fillRect/>
          </a:stretch>
        </p:blipFill>
        <p:spPr>
          <a:xfrm>
            <a:off x="502920" y="2046800"/>
            <a:ext cx="5486400" cy="3404478"/>
          </a:xfrm>
          <a:prstGeom prst="rect">
            <a:avLst/>
          </a:prstGeom>
        </p:spPr>
      </p:pic>
      <p:pic>
        <p:nvPicPr>
          <p:cNvPr id="5" name="Picture 4" descr="Screen Layout: Login and Signup image"/>
          <p:cNvPicPr>
            <a:picLocks noChangeAspect="1"/>
          </p:cNvPicPr>
          <p:nvPr/>
        </p:nvPicPr>
        <p:blipFill>
          <a:blip r:embed="rId2"/>
          <a:stretch>
            <a:fillRect/>
          </a:stretch>
        </p:blipFill>
        <p:spPr>
          <a:xfrm>
            <a:off x="6199632" y="2047123"/>
            <a:ext cx="5486400" cy="3403833"/>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Screen Layout: Forget Password and Dashboard</a:t>
            </a:r>
            <a:endParaRPr lang="en-IN" dirty="0"/>
          </a:p>
        </p:txBody>
      </p:sp>
      <p:pic>
        <p:nvPicPr>
          <p:cNvPr id="4" name="Content Placeholder 3" descr="Screen Layout: Forget Password and Dashboard image"/>
          <p:cNvPicPr>
            <a:picLocks noGrp="1" noChangeAspect="1"/>
          </p:cNvPicPr>
          <p:nvPr>
            <p:ph idx="1"/>
          </p:nvPr>
        </p:nvPicPr>
        <p:blipFill>
          <a:blip r:embed="rId4"/>
          <a:stretch>
            <a:fillRect/>
          </a:stretch>
        </p:blipFill>
        <p:spPr>
          <a:xfrm>
            <a:off x="502920" y="2034144"/>
            <a:ext cx="5486400" cy="3429791"/>
          </a:xfrm>
          <a:prstGeom prst="rect">
            <a:avLst/>
          </a:prstGeom>
        </p:spPr>
      </p:pic>
      <p:pic>
        <p:nvPicPr>
          <p:cNvPr id="5" name="Picture 4" descr="Screen Layout: Forget Password and Dashboard image"/>
          <p:cNvPicPr>
            <a:picLocks noChangeAspect="1"/>
          </p:cNvPicPr>
          <p:nvPr/>
        </p:nvPicPr>
        <p:blipFill>
          <a:blip r:embed="rId2"/>
          <a:stretch>
            <a:fillRect/>
          </a:stretch>
        </p:blipFill>
        <p:spPr>
          <a:xfrm>
            <a:off x="6199632" y="2030980"/>
            <a:ext cx="5486400" cy="3436119"/>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Screen Layout: Find People and Friend Requests</a:t>
            </a:r>
            <a:endParaRPr lang="en-IN" dirty="0"/>
          </a:p>
        </p:txBody>
      </p:sp>
      <p:pic>
        <p:nvPicPr>
          <p:cNvPr id="4" name="Content Placeholder 3" descr="Screen Layout: Find People and Friend Requests image"/>
          <p:cNvPicPr>
            <a:picLocks noGrp="1" noChangeAspect="1"/>
          </p:cNvPicPr>
          <p:nvPr>
            <p:ph idx="1"/>
          </p:nvPr>
        </p:nvPicPr>
        <p:blipFill>
          <a:blip r:embed="rId4"/>
          <a:stretch>
            <a:fillRect/>
          </a:stretch>
        </p:blipFill>
        <p:spPr>
          <a:xfrm>
            <a:off x="502920" y="2040057"/>
            <a:ext cx="5486400" cy="3417964"/>
          </a:xfrm>
          <a:prstGeom prst="rect">
            <a:avLst/>
          </a:prstGeom>
        </p:spPr>
      </p:pic>
      <p:pic>
        <p:nvPicPr>
          <p:cNvPr id="5" name="Picture 4" descr="Screen Layout: Find People and Friend Requests image"/>
          <p:cNvPicPr>
            <a:picLocks noChangeAspect="1"/>
          </p:cNvPicPr>
          <p:nvPr/>
        </p:nvPicPr>
        <p:blipFill>
          <a:blip r:embed="rId2"/>
          <a:stretch>
            <a:fillRect/>
          </a:stretch>
        </p:blipFill>
        <p:spPr>
          <a:xfrm>
            <a:off x="6199632" y="2027379"/>
            <a:ext cx="5486400" cy="344332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Screen Layout: Friend Chat</a:t>
            </a:r>
            <a:endParaRPr lang="en-IN" dirty="0"/>
          </a:p>
        </p:txBody>
      </p:sp>
      <p:pic>
        <p:nvPicPr>
          <p:cNvPr id="4" name="Content Placeholder 3" descr="Screen Layout: Friend Chat image"/>
          <p:cNvPicPr>
            <a:picLocks noGrp="1" noChangeAspect="1"/>
          </p:cNvPicPr>
          <p:nvPr>
            <p:ph idx="1"/>
          </p:nvPr>
        </p:nvPicPr>
        <p:blipFill>
          <a:blip r:embed="rId4"/>
          <a:stretch>
            <a:fillRect/>
          </a:stretch>
        </p:blipFill>
        <p:spPr>
          <a:xfrm>
            <a:off x="502920" y="2037308"/>
            <a:ext cx="5486400" cy="3423462"/>
          </a:xfrm>
          <a:prstGeom prst="rect">
            <a:avLst/>
          </a:prstGeom>
        </p:spPr>
      </p:pic>
      <p:pic>
        <p:nvPicPr>
          <p:cNvPr id="5" name="Picture 4" descr="Screen Layout: Friend Chat image"/>
          <p:cNvPicPr>
            <a:picLocks noChangeAspect="1"/>
          </p:cNvPicPr>
          <p:nvPr/>
        </p:nvPicPr>
        <p:blipFill>
          <a:blip r:embed="rId2"/>
          <a:stretch>
            <a:fillRect/>
          </a:stretch>
        </p:blipFill>
        <p:spPr>
          <a:xfrm>
            <a:off x="6199632" y="2390081"/>
            <a:ext cx="5486400" cy="2717917"/>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Screen Layout: Group Creation and Group Page</a:t>
            </a:r>
            <a:endParaRPr lang="en-IN" dirty="0"/>
          </a:p>
        </p:txBody>
      </p:sp>
      <p:pic>
        <p:nvPicPr>
          <p:cNvPr id="4" name="Content Placeholder 3" descr="Screen Layout: Group Creation and Group Page image"/>
          <p:cNvPicPr>
            <a:picLocks noGrp="1" noChangeAspect="1"/>
          </p:cNvPicPr>
          <p:nvPr>
            <p:ph idx="1"/>
          </p:nvPr>
        </p:nvPicPr>
        <p:blipFill>
          <a:blip r:embed="rId4"/>
          <a:stretch>
            <a:fillRect/>
          </a:stretch>
        </p:blipFill>
        <p:spPr>
          <a:xfrm>
            <a:off x="502920" y="2044834"/>
            <a:ext cx="5486400" cy="3408410"/>
          </a:xfrm>
          <a:prstGeom prst="rect">
            <a:avLst/>
          </a:prstGeom>
        </p:spPr>
      </p:pic>
      <p:pic>
        <p:nvPicPr>
          <p:cNvPr id="5" name="Picture 4" descr="Screen Layout: Group Creation and Group Page image"/>
          <p:cNvPicPr>
            <a:picLocks noChangeAspect="1"/>
          </p:cNvPicPr>
          <p:nvPr/>
        </p:nvPicPr>
        <p:blipFill>
          <a:blip r:embed="rId2"/>
          <a:stretch>
            <a:fillRect/>
          </a:stretch>
        </p:blipFill>
        <p:spPr>
          <a:xfrm>
            <a:off x="6199632" y="2046364"/>
            <a:ext cx="5486400" cy="3405351"/>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System Testing</a:t>
            </a:r>
            <a:endParaRPr lang="en-IN" dirty="0"/>
          </a:p>
        </p:txBody>
      </p:sp>
      <p:sp>
        <p:nvSpPr>
          <p:cNvPr id="4" name="Content Placeholder 3"/>
          <p:cNvSpPr>
            <a:spLocks noGrp="1"/>
          </p:cNvSpPr>
          <p:nvPr>
            <p:ph sz="half" idx="2"/>
          </p:nvPr>
        </p:nvSpPr>
        <p:spPr>
          <a:xfrm>
            <a:off x="953084" y="1965347"/>
            <a:ext cx="5952541" cy="4294327"/>
          </a:xfrm>
        </p:spPr>
        <p:txBody>
          <a:bodyPr>
            <a:noAutofit/>
          </a:bodyPr>
          <a:lstStyle/>
          <a:p>
            <a:pPr marL="578485" lvl="1" indent="-285750">
              <a:buFont typeface="Arial" panose="020B0604020202090204" pitchFamily="34" charset="0"/>
              <a:buChar char="•"/>
            </a:pPr>
            <a:r>
              <a:rPr lang="en-US" sz="1800" b="1" dirty="0"/>
              <a:t>Testing Strategy:</a:t>
            </a:r>
            <a:r>
              <a:rPr lang="en-US" sz="1800" dirty="0"/>
              <a:t> Black Box Testing of all modules.</a:t>
            </a:r>
            <a:endParaRPr lang="en-US" sz="1800" dirty="0"/>
          </a:p>
          <a:p>
            <a:pPr marL="292735" lvl="1" indent="0">
              <a:buNone/>
            </a:pPr>
            <a:endParaRPr lang="en-US" sz="1800" dirty="0"/>
          </a:p>
          <a:p>
            <a:pPr marL="578485" lvl="1" indent="-285750">
              <a:buFont typeface="Arial" panose="020B0604020202090204" pitchFamily="34" charset="0"/>
              <a:buChar char="•"/>
            </a:pPr>
            <a:r>
              <a:rPr lang="en-US" sz="1800" b="1" dirty="0"/>
              <a:t>Total Test Cases:</a:t>
            </a:r>
            <a:r>
              <a:rPr lang="en-US" sz="1800" dirty="0"/>
              <a:t> 31</a:t>
            </a:r>
            <a:endParaRPr lang="en-US" sz="1800" dirty="0"/>
          </a:p>
          <a:p>
            <a:pPr marL="292735" lvl="1" indent="0">
              <a:buNone/>
            </a:pPr>
            <a:endParaRPr lang="en-US" sz="1800" dirty="0"/>
          </a:p>
          <a:p>
            <a:pPr marL="578485" lvl="1" indent="-285750">
              <a:buFont typeface="Arial" panose="020B0604020202090204" pitchFamily="34" charset="0"/>
              <a:buChar char="•"/>
            </a:pPr>
            <a:r>
              <a:rPr lang="en-US" sz="1800" b="1" dirty="0"/>
              <a:t>Passed:</a:t>
            </a:r>
            <a:r>
              <a:rPr lang="en-US" sz="1800" dirty="0"/>
              <a:t> 22 test cases (71%)</a:t>
            </a:r>
            <a:endParaRPr lang="en-US" sz="1800" dirty="0"/>
          </a:p>
          <a:p>
            <a:pPr marL="292735" lvl="1" indent="0">
              <a:buNone/>
            </a:pPr>
            <a:endParaRPr lang="en-US" sz="1800" dirty="0"/>
          </a:p>
          <a:p>
            <a:pPr marL="578485" lvl="1" indent="-285750">
              <a:buFont typeface="Arial" panose="020B0604020202090204" pitchFamily="34" charset="0"/>
              <a:buChar char="•"/>
            </a:pPr>
            <a:r>
              <a:rPr lang="en-US" sz="1800" b="1" dirty="0"/>
              <a:t>Failed:</a:t>
            </a:r>
            <a:r>
              <a:rPr lang="en-US" sz="1800" dirty="0"/>
              <a:t> 9 test cases (29%)</a:t>
            </a:r>
            <a:endParaRPr lang="en-US" sz="1800" dirty="0"/>
          </a:p>
        </p:txBody>
      </p:sp>
      <p:graphicFrame>
        <p:nvGraphicFramePr>
          <p:cNvPr id="5" name="Chart 4"/>
          <p:cNvGraphicFramePr>
            <a:graphicFrameLocks noGrp="1"/>
          </p:cNvGraphicFramePr>
          <p:nvPr/>
        </p:nvGraphicFramePr>
        <p:xfrm>
          <a:off x="6400800" y="1783080"/>
          <a:ext cx="5394960" cy="3931920"/>
        </p:xfrm>
        <a:graphic>
          <a:graphicData uri="http://schemas.openxmlformats.org/drawingml/2006/chart">
            <c:chart xmlns:c="http://schemas.openxmlformats.org/drawingml/2006/chart" r:id="rId3"/>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p>
            <a:r>
              <a:rPr lang="en-US">
                <a:sym typeface="+mn-ea"/>
              </a:rPr>
              <a:t>System Testing</a:t>
            </a:r>
            <a:endParaRPr lang="en-US"/>
          </a:p>
        </p:txBody>
      </p:sp>
      <p:sp>
        <p:nvSpPr>
          <p:cNvPr id="901" name="Label 1"/>
          <p:cNvSpPr txBox="1"/>
          <p:nvPr/>
        </p:nvSpPr>
        <p:spPr>
          <a:xfrm>
            <a:off x="1097280" y="1828800"/>
            <a:ext cx="6400800" cy="365760"/>
          </a:xfrm>
          <a:prstGeom prst="rect">
            <a:avLst/>
          </a:prstGeom>
          <a:noFill/>
        </p:spPr>
        <p:txBody>
          <a:bodyPr wrap="square" rtlCol="0">
            <a:spAutoFit/>
          </a:bodyPr>
          <a:lstStyle/>
          <a:p>
            <a:pPr marL="285750" indent="-285750"/>
            <a:r>
              <a:rPr lang="en-US" altLang="en-US" b="1" dirty="0" sz="1600">
                <a:ln>
                  <a:noFill/>
                </a:ln>
                <a:solidFill>
                  <a:schemeClr val="tx1">
                    <a:lumMod val="75000"/>
                    <a:lumOff val="25000"/>
                  </a:schemeClr>
                </a:solidFill>
                <a:effectLst/>
                <a:latin typeface="Arial" panose="020B0604020202090204" pitchFamily="34" charset="0"/>
                <a:sym typeface="+mn-ea"/>
              </a:rPr>
              <a:t>Black Box Testing:</a:t>
            </a:r>
            <a:endParaRPr lang="en-US" altLang="en-US" b="1" dirty="0" sz="1600">
              <a:ln>
                <a:noFill/>
              </a:ln>
              <a:solidFill>
                <a:schemeClr val="tx1">
                  <a:lumMod val="75000"/>
                  <a:lumOff val="25000"/>
                </a:schemeClr>
              </a:solidFill>
              <a:effectLst/>
              <a:latin typeface="Arial" panose="020B0604020202090204" pitchFamily="34" charset="0"/>
              <a:sym typeface="+mn-ea"/>
            </a:endParaRPr>
          </a:p>
        </p:txBody>
      </p:sp>
      <p:graphicFrame>
        <p:nvGraphicFramePr>
          <p:cNvPr id="902" name="Table 901"/>
          <p:cNvGraphicFramePr>
            <a:graphicFrameLocks noGrp="1"/>
          </p:cNvGraphicFramePr>
          <p:nvPr/>
        </p:nvGraphicFramePr>
        <p:xfrm>
          <a:off x="1280160" y="2286000"/>
          <a:ext cx="10195560" cy="3291840"/>
        </p:xfrm>
        <a:graphic>
          <a:graphicData uri="http://schemas.openxmlformats.org/drawingml/2006/table">
            <a:tbl>
              <a:tblPr/>
              <a:tblGrid>
                <a:gridCol w="731520"/>
                <a:gridCol w="1691640"/>
                <a:gridCol w="2560320"/>
                <a:gridCol w="2194560"/>
                <a:gridCol w="2331720"/>
                <a:gridCol w="685800"/>
              </a:tblGrid>
              <a:tr h="365760">
                <a:tc>
                  <a:txBody>
                    <a:bodyPr/>
                    <a:lstStyle/>
                    <a:p>
                      <a:r>
                        <a:rPr sz="1200" b="1">
                          <a:latin typeface="Times New Roman"/>
                        </a:rPr>
                        <a:t>Sr. No.</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Test Case</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Input</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Expected Output</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Actual Output</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Status</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r>
              <a:tr h="365760">
                <a:tc>
                  <a:txBody>
                    <a:bodyPr/>
                    <a:lstStyle/>
                    <a:p>
                      <a:r>
                        <a:rPr sz="1200" b="0">
                          <a:latin typeface="Times New Roman"/>
                        </a:rPr>
                        <a:t>1</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Registration</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Valid Name, Username, Email and Password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User Registered Successfully</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User Registered Successfully</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2</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Registration</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Invalid Email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Registration Failed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Invalid Email Address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3</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Registration</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Existing Email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Registration Failed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Email Already Exists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4</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Registration</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Empty Required Fields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Validation Error</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Required Fields Missing</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5</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Registration</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Existing Username</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Registration Failed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User Registered Successfully</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Fail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6</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OTP Verification</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Valid OTP</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Account Verified Successfully</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Account Verified Successfully</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7</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OTP Verification</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Invalid OTP</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Verification Failed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Invalid OTP</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8</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OTP Verification</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Expired OTP</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Verification Failed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Account Verified Successfully</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Fail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p>
            <a:r>
              <a:rPr lang="en-US">
                <a:sym typeface="+mn-ea"/>
              </a:rPr>
              <a:t>System Testing</a:t>
            </a:r>
            <a:endParaRPr lang="en-US"/>
          </a:p>
        </p:txBody>
      </p:sp>
      <p:sp>
        <p:nvSpPr>
          <p:cNvPr id="901" name="Label 1"/>
          <p:cNvSpPr txBox="1"/>
          <p:nvPr/>
        </p:nvSpPr>
        <p:spPr>
          <a:xfrm>
            <a:off x="1097280" y="1828800"/>
            <a:ext cx="6400800" cy="365760"/>
          </a:xfrm>
          <a:prstGeom prst="rect">
            <a:avLst/>
          </a:prstGeom>
          <a:noFill/>
        </p:spPr>
        <p:txBody>
          <a:bodyPr wrap="square" rtlCol="0">
            <a:spAutoFit/>
          </a:bodyPr>
          <a:lstStyle/>
          <a:p>
            <a:pPr marL="285750" indent="-285750"/>
            <a:r>
              <a:rPr lang="en-US" altLang="en-US" b="1" dirty="0" sz="1600">
                <a:ln>
                  <a:noFill/>
                </a:ln>
                <a:solidFill>
                  <a:schemeClr val="tx1">
                    <a:lumMod val="75000"/>
                    <a:lumOff val="25000"/>
                  </a:schemeClr>
                </a:solidFill>
                <a:effectLst/>
                <a:latin typeface="Arial" panose="020B0604020202090204" pitchFamily="34" charset="0"/>
                <a:sym typeface="+mn-ea"/>
              </a:rPr>
              <a:t>Black Box Testing (continued):</a:t>
            </a:r>
            <a:endParaRPr lang="en-US" altLang="en-US" b="1" dirty="0" sz="1600">
              <a:ln>
                <a:noFill/>
              </a:ln>
              <a:solidFill>
                <a:schemeClr val="tx1">
                  <a:lumMod val="75000"/>
                  <a:lumOff val="25000"/>
                </a:schemeClr>
              </a:solidFill>
              <a:effectLst/>
              <a:latin typeface="Arial" panose="020B0604020202090204" pitchFamily="34" charset="0"/>
              <a:sym typeface="+mn-ea"/>
            </a:endParaRPr>
          </a:p>
        </p:txBody>
      </p:sp>
      <p:graphicFrame>
        <p:nvGraphicFramePr>
          <p:cNvPr id="902" name="Table 901"/>
          <p:cNvGraphicFramePr>
            <a:graphicFrameLocks noGrp="1"/>
          </p:cNvGraphicFramePr>
          <p:nvPr/>
        </p:nvGraphicFramePr>
        <p:xfrm>
          <a:off x="1280160" y="2286000"/>
          <a:ext cx="10195560" cy="3291840"/>
        </p:xfrm>
        <a:graphic>
          <a:graphicData uri="http://schemas.openxmlformats.org/drawingml/2006/table">
            <a:tbl>
              <a:tblPr/>
              <a:tblGrid>
                <a:gridCol w="731520"/>
                <a:gridCol w="1691640"/>
                <a:gridCol w="2560320"/>
                <a:gridCol w="2194560"/>
                <a:gridCol w="2331720"/>
                <a:gridCol w="685800"/>
              </a:tblGrid>
              <a:tr h="365760">
                <a:tc>
                  <a:txBody>
                    <a:bodyPr/>
                    <a:lstStyle/>
                    <a:p>
                      <a:r>
                        <a:rPr sz="1200" b="1">
                          <a:latin typeface="Times New Roman"/>
                        </a:rPr>
                        <a:t>Sr. No.</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Test Case</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Input</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Expected Output</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Actual Output</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Status</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r>
              <a:tr h="365760">
                <a:tc>
                  <a:txBody>
                    <a:bodyPr/>
                    <a:lstStyle/>
                    <a:p>
                      <a:r>
                        <a:rPr sz="1200" b="0">
                          <a:latin typeface="Times New Roman"/>
                        </a:rPr>
                        <a:t>9</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Login</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Valid Email and Password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Login Successful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Login Successful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10</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Login</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Invalid Password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Login Failed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Incorrect Password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11</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Login</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Unregistered Email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Login Failed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User Not Found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12</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Login</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Empty Email and Password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Validation Error</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Required Fields Missing</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13</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Login</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Unverified Account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Login Failed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Login Successful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Fail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14</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Forgot Password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Registered Email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OTP Sent Successfully</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OTP Sent Successfully</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15</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Forgot Password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Unregistered Email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OTP Not Sent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User Not Found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16</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Reset Password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Valid OTP and New Password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Password Reset Successfully</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Password Reset Successfully</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p>
            <a:r>
              <a:rPr lang="en-US">
                <a:sym typeface="+mn-ea"/>
              </a:rPr>
              <a:t>System Testing</a:t>
            </a:r>
            <a:endParaRPr lang="en-US"/>
          </a:p>
        </p:txBody>
      </p:sp>
      <p:sp>
        <p:nvSpPr>
          <p:cNvPr id="901" name="Label 1"/>
          <p:cNvSpPr txBox="1"/>
          <p:nvPr/>
        </p:nvSpPr>
        <p:spPr>
          <a:xfrm>
            <a:off x="1097280" y="1828800"/>
            <a:ext cx="6400800" cy="365760"/>
          </a:xfrm>
          <a:prstGeom prst="rect">
            <a:avLst/>
          </a:prstGeom>
          <a:noFill/>
        </p:spPr>
        <p:txBody>
          <a:bodyPr wrap="square" rtlCol="0">
            <a:spAutoFit/>
          </a:bodyPr>
          <a:lstStyle/>
          <a:p>
            <a:pPr marL="285750" indent="-285750"/>
            <a:r>
              <a:rPr lang="en-US" altLang="en-US" b="1" dirty="0" sz="1600">
                <a:ln>
                  <a:noFill/>
                </a:ln>
                <a:solidFill>
                  <a:schemeClr val="tx1">
                    <a:lumMod val="75000"/>
                    <a:lumOff val="25000"/>
                  </a:schemeClr>
                </a:solidFill>
                <a:effectLst/>
                <a:latin typeface="Arial" panose="020B0604020202090204" pitchFamily="34" charset="0"/>
                <a:sym typeface="+mn-ea"/>
              </a:rPr>
              <a:t>Black Box Testing (continued):</a:t>
            </a:r>
            <a:endParaRPr lang="en-US" altLang="en-US" b="1" dirty="0" sz="1600">
              <a:ln>
                <a:noFill/>
              </a:ln>
              <a:solidFill>
                <a:schemeClr val="tx1">
                  <a:lumMod val="75000"/>
                  <a:lumOff val="25000"/>
                </a:schemeClr>
              </a:solidFill>
              <a:effectLst/>
              <a:latin typeface="Arial" panose="020B0604020202090204" pitchFamily="34" charset="0"/>
              <a:sym typeface="+mn-ea"/>
            </a:endParaRPr>
          </a:p>
        </p:txBody>
      </p:sp>
      <p:graphicFrame>
        <p:nvGraphicFramePr>
          <p:cNvPr id="902" name="Table 901"/>
          <p:cNvGraphicFramePr>
            <a:graphicFrameLocks noGrp="1"/>
          </p:cNvGraphicFramePr>
          <p:nvPr/>
        </p:nvGraphicFramePr>
        <p:xfrm>
          <a:off x="1280160" y="2286000"/>
          <a:ext cx="10195560" cy="3291840"/>
        </p:xfrm>
        <a:graphic>
          <a:graphicData uri="http://schemas.openxmlformats.org/drawingml/2006/table">
            <a:tbl>
              <a:tblPr/>
              <a:tblGrid>
                <a:gridCol w="731520"/>
                <a:gridCol w="1691640"/>
                <a:gridCol w="2560320"/>
                <a:gridCol w="2194560"/>
                <a:gridCol w="2331720"/>
                <a:gridCol w="685800"/>
              </a:tblGrid>
              <a:tr h="365760">
                <a:tc>
                  <a:txBody>
                    <a:bodyPr/>
                    <a:lstStyle/>
                    <a:p>
                      <a:r>
                        <a:rPr sz="1200" b="1">
                          <a:latin typeface="Times New Roman"/>
                        </a:rPr>
                        <a:t>Sr. No.</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Test Case</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Input</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Expected Output</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Actual Output</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Status</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r>
              <a:tr h="365760">
                <a:tc>
                  <a:txBody>
                    <a:bodyPr/>
                    <a:lstStyle/>
                    <a:p>
                      <a:r>
                        <a:rPr sz="1200" b="0">
                          <a:latin typeface="Times New Roman"/>
                        </a:rPr>
                        <a:t>17</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Reset Password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Invalid OTP</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Password Reset Failed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Invalid OTP</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18</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Reset Password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Empty New Password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Validation Error</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Password Reset Successfully</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Fail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19</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Update Profile</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Valid Name, Bio and Avatar</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Profile Updated Successfully</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Profile Updated Successfully</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20</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Update Profile</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Invalid Avatar File</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Profile Update Failed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Profile Updated Successfully</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Fail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21</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Send Friend Request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Valid User</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Friend Request Sent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Friend Request Sent Successfully</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22</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Send Friend Request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Non-existing User</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Request Failed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User Not Found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23</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Send Friend Request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Already Sent Request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Request Failed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Friend Request Sent Successfully</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Fail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24</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Accept Friend Request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Pending Friend Request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Friend Added Successfully</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Friend Added Successfully</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p>
            <a:r>
              <a:rPr lang="en-US">
                <a:sym typeface="+mn-ea"/>
              </a:rPr>
              <a:t>System Testing</a:t>
            </a:r>
            <a:endParaRPr lang="en-US"/>
          </a:p>
        </p:txBody>
      </p:sp>
      <p:sp>
        <p:nvSpPr>
          <p:cNvPr id="901" name="Label 1"/>
          <p:cNvSpPr txBox="1"/>
          <p:nvPr/>
        </p:nvSpPr>
        <p:spPr>
          <a:xfrm>
            <a:off x="1097280" y="1828800"/>
            <a:ext cx="6400800" cy="365760"/>
          </a:xfrm>
          <a:prstGeom prst="rect">
            <a:avLst/>
          </a:prstGeom>
          <a:noFill/>
        </p:spPr>
        <p:txBody>
          <a:bodyPr wrap="square" rtlCol="0">
            <a:spAutoFit/>
          </a:bodyPr>
          <a:lstStyle/>
          <a:p>
            <a:pPr marL="285750" indent="-285750"/>
            <a:r>
              <a:rPr lang="en-US" altLang="en-US" b="1" dirty="0" sz="1600">
                <a:ln>
                  <a:noFill/>
                </a:ln>
                <a:solidFill>
                  <a:schemeClr val="tx1">
                    <a:lumMod val="75000"/>
                    <a:lumOff val="25000"/>
                  </a:schemeClr>
                </a:solidFill>
                <a:effectLst/>
                <a:latin typeface="Arial" panose="020B0604020202090204" pitchFamily="34" charset="0"/>
                <a:sym typeface="+mn-ea"/>
              </a:rPr>
              <a:t>Black Box Testing (continued):</a:t>
            </a:r>
            <a:endParaRPr lang="en-US" altLang="en-US" b="1" dirty="0" sz="1600">
              <a:ln>
                <a:noFill/>
              </a:ln>
              <a:solidFill>
                <a:schemeClr val="tx1">
                  <a:lumMod val="75000"/>
                  <a:lumOff val="25000"/>
                </a:schemeClr>
              </a:solidFill>
              <a:effectLst/>
              <a:latin typeface="Arial" panose="020B0604020202090204" pitchFamily="34" charset="0"/>
              <a:sym typeface="+mn-ea"/>
            </a:endParaRPr>
          </a:p>
        </p:txBody>
      </p:sp>
      <p:graphicFrame>
        <p:nvGraphicFramePr>
          <p:cNvPr id="902" name="Table 901"/>
          <p:cNvGraphicFramePr>
            <a:graphicFrameLocks noGrp="1"/>
          </p:cNvGraphicFramePr>
          <p:nvPr/>
        </p:nvGraphicFramePr>
        <p:xfrm>
          <a:off x="1280160" y="2286000"/>
          <a:ext cx="10195560" cy="2926080"/>
        </p:xfrm>
        <a:graphic>
          <a:graphicData uri="http://schemas.openxmlformats.org/drawingml/2006/table">
            <a:tbl>
              <a:tblPr/>
              <a:tblGrid>
                <a:gridCol w="731520"/>
                <a:gridCol w="1691640"/>
                <a:gridCol w="2560320"/>
                <a:gridCol w="2194560"/>
                <a:gridCol w="2331720"/>
                <a:gridCol w="685800"/>
              </a:tblGrid>
              <a:tr h="365760">
                <a:tc>
                  <a:txBody>
                    <a:bodyPr/>
                    <a:lstStyle/>
                    <a:p>
                      <a:r>
                        <a:rPr sz="1200" b="1">
                          <a:latin typeface="Times New Roman"/>
                        </a:rPr>
                        <a:t>Sr. No.</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Test Case</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Input</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Expected Output</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Actual Output</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c>
                  <a:txBody>
                    <a:bodyPr/>
                    <a:lstStyle/>
                    <a:p>
                      <a:r>
                        <a:rPr sz="1200" b="1">
                          <a:latin typeface="Times New Roman"/>
                        </a:rPr>
                        <a:t>Status</a:t>
                      </a:r>
                    </a:p>
                  </a:txBody>
                  <a:tcPr marL="68580" marR="45720" marT="27432" marB="27432" anchor="ctr">
                    <a:lnL w="12700" cap="flat" cmpd="sng">
                      <a:solidFill>
                        <a:srgbClr val="000000"/>
                      </a:solidFill>
                      <a:prstDash val="solid"/>
                    </a:lnL>
                    <a:lnR w="12700" cap="flat" cmpd="sng">
                      <a:solidFill>
                        <a:srgbClr val="000000"/>
                      </a:solidFill>
                      <a:prstDash val="solid"/>
                    </a:lnR>
                    <a:lnT w="19050" cap="flat" cmpd="sng">
                      <a:solidFill>
                        <a:srgbClr val="000000"/>
                      </a:solidFill>
                      <a:prstDash val="solid"/>
                    </a:lnT>
                    <a:lnB w="19050" cap="flat" cmpd="sng">
                      <a:solidFill>
                        <a:srgbClr val="000000"/>
                      </a:solidFill>
                      <a:prstDash val="solid"/>
                    </a:lnB>
                    <a:noFill/>
                  </a:tcPr>
                </a:tc>
              </a:tr>
              <a:tr h="365760">
                <a:tc>
                  <a:txBody>
                    <a:bodyPr/>
                    <a:lstStyle/>
                    <a:p>
                      <a:r>
                        <a:rPr sz="1200" b="0">
                          <a:latin typeface="Times New Roman"/>
                        </a:rPr>
                        <a:t>25</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Reject Friend Request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Pending Friend Request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Request Rejected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Request Rejected Successfully</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26</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Search User</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Valid Username</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Matching Users Displayed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Matching Users Displayed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27</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Search User</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Non-existing Username</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No Matching Users Found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Matching Users Displayed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Fail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28</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One-to-One Chat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Abuse</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Message not Delivered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Your message contains inappropriate content.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Fail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29</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Send Image</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Valid Image File</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Image Sent Successfully</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Image Sent Successfully</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30</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Send Image</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Invalid Image File</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Image Upload Failed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Image Uploaded Successfully</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Fail</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r h="365760">
                <a:tc>
                  <a:txBody>
                    <a:bodyPr/>
                    <a:lstStyle/>
                    <a:p>
                      <a:r>
                        <a:rPr sz="1200" b="0">
                          <a:latin typeface="Times New Roman"/>
                        </a:rPr>
                        <a:t>31</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One-to-One Chat</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hi</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Message delivered successfully</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Message delivered</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c>
                  <a:txBody>
                    <a:bodyPr/>
                    <a:lstStyle/>
                    <a:p>
                      <a:r>
                        <a:rPr sz="1200" b="0">
                          <a:latin typeface="Times New Roman"/>
                        </a:rPr>
                        <a:t>Pass</a:t>
                      </a:r>
                    </a:p>
                  </a:txBody>
                  <a:tcPr marL="68580" marR="45720" marT="27432" marB="27432" anchor="ctr">
                    <a:lnL w="12700" cap="flat" cmpd="sng">
                      <a:solidFill>
                        <a:srgbClr val="000000"/>
                      </a:solidFill>
                      <a:prstDash val="solid"/>
                    </a:lnL>
                    <a:lnR w="12700" cap="flat" cmpd="sng">
                      <a:solidFill>
                        <a:srgbClr val="000000"/>
                      </a:solidFill>
                      <a:prstDash val="solid"/>
                    </a:lnR>
                    <a:lnT w="12700" cap="flat" cmpd="sng">
                      <a:solidFill>
                        <a:srgbClr val="000000"/>
                      </a:solidFill>
                      <a:prstDash val="solid"/>
                    </a:lnT>
                    <a:lnB w="12700" cap="flat" cmpd="sng">
                      <a:solidFill>
                        <a:srgbClr val="000000"/>
                      </a:solidFill>
                      <a:prstDash val="solid"/>
                    </a:lnB>
                    <a:no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Future Enhancement</a:t>
            </a:r>
            <a:endParaRPr lang="en-IN" dirty="0"/>
          </a:p>
        </p:txBody>
      </p:sp>
      <p:sp>
        <p:nvSpPr>
          <p:cNvPr id="4" name="Rectangle 1"/>
          <p:cNvSpPr>
            <a:spLocks noGrp="1" noChangeArrowheads="1"/>
          </p:cNvSpPr>
          <p:nvPr>
            <p:ph idx="1"/>
          </p:nvPr>
        </p:nvSpPr>
        <p:spPr bwMode="auto">
          <a:xfrm>
            <a:off x="612088" y="1861952"/>
            <a:ext cx="1060704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578485" lvl="1" indent="-285750" eaLnBrk="0" fontAlgn="base" hangingPunct="0">
              <a:lnSpc>
                <a:spcPct val="100000"/>
              </a:lnSpc>
              <a:spcBef>
                <a:spcPct val="0"/>
              </a:spcBef>
              <a:spcAft>
                <a:spcPct val="0"/>
              </a:spcAft>
              <a:buClrTx/>
              <a:buFont typeface="Arial" panose="020B0604020202090204" pitchFamily="34" charset="0"/>
              <a:buChar char="•"/>
            </a:pPr>
            <a:r>
              <a:rPr kumimoji="0" lang="en-US" altLang="en-US" b="1" i="0" u="none" strike="noStrike" cap="none" normalizeH="0" baseline="0" dirty="0">
                <a:ln>
                  <a:noFill/>
                </a:ln>
                <a:solidFill>
                  <a:schemeClr val="tx1">
                    <a:lumMod val="75000"/>
                    <a:lumOff val="25000"/>
                  </a:schemeClr>
                </a:solidFill>
                <a:effectLst/>
                <a:latin typeface="Arial" panose="020B0604020202090204" pitchFamily="34" charset="0"/>
              </a:rPr>
              <a:t>Video and Voice Calling:</a:t>
            </a:r>
            <a:r>
              <a:rPr kumimoji="0" lang="en-US" altLang="en-US" b="0" i="0" u="none" strike="noStrike" cap="none" normalizeH="0" baseline="0" dirty="0">
                <a:ln>
                  <a:noFill/>
                </a:ln>
                <a:solidFill>
                  <a:schemeClr val="tx1">
                    <a:lumMod val="75000"/>
                    <a:lumOff val="25000"/>
                  </a:schemeClr>
                </a:solidFill>
                <a:effectLst/>
                <a:latin typeface="Arial" panose="020B0604020202090204" pitchFamily="34" charset="0"/>
              </a:rPr>
              <a:t> Calling between two friends.</a:t>
            </a:r>
            <a:endParaRPr kumimoji="0" lang="en-US" altLang="en-US" b="0" i="0" u="none" strike="noStrike" cap="none" normalizeH="0" baseline="0" dirty="0">
              <a:ln>
                <a:noFill/>
              </a:ln>
              <a:solidFill>
                <a:schemeClr val="tx1">
                  <a:lumMod val="75000"/>
                  <a:lumOff val="25000"/>
                </a:schemeClr>
              </a:solidFill>
              <a:effectLst/>
              <a:latin typeface="Arial" panose="020B0604020202090204" pitchFamily="34" charset="0"/>
            </a:endParaRPr>
          </a:p>
          <a:p>
            <a:pPr marL="292735" lvl="1" indent="0" eaLnBrk="0" fontAlgn="base" hangingPunct="0">
              <a:lnSpc>
                <a:spcPct val="100000"/>
              </a:lnSpc>
              <a:spcBef>
                <a:spcPct val="0"/>
              </a:spcBef>
              <a:spcAft>
                <a:spcPct val="0"/>
              </a:spcAft>
              <a:buClrTx/>
              <a:buNone/>
            </a:pPr>
            <a:endParaRPr kumimoji="0" lang="en-US" altLang="en-US"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r>
              <a:rPr kumimoji="0" lang="en-US" altLang="en-US" b="1" i="0" u="none" strike="noStrike" cap="none" normalizeH="0" baseline="0" dirty="0">
                <a:ln>
                  <a:noFill/>
                </a:ln>
                <a:solidFill>
                  <a:schemeClr val="tx1">
                    <a:lumMod val="75000"/>
                    <a:lumOff val="25000"/>
                  </a:schemeClr>
                </a:solidFill>
                <a:effectLst/>
                <a:latin typeface="Arial" panose="020B0604020202090204" pitchFamily="34" charset="0"/>
              </a:rPr>
              <a:t>Privacy Settings:</a:t>
            </a:r>
            <a:r>
              <a:rPr kumimoji="0" lang="en-US" altLang="en-US" b="0" i="0" u="none" strike="noStrike" cap="none" normalizeH="0" baseline="0" dirty="0">
                <a:ln>
                  <a:noFill/>
                </a:ln>
                <a:solidFill>
                  <a:schemeClr val="tx1">
                    <a:lumMod val="75000"/>
                    <a:lumOff val="25000"/>
                  </a:schemeClr>
                </a:solidFill>
                <a:effectLst/>
                <a:latin typeface="Arial" panose="020B0604020202090204" pitchFamily="34" charset="0"/>
              </a:rPr>
              <a:t> Detailed privacy options such as blocking users and controlling profile visibility.</a:t>
            </a:r>
            <a:endParaRPr kumimoji="0" lang="en-US" altLang="en-US" b="0" i="0" u="none" strike="noStrike" cap="none" normalizeH="0" baseline="0" dirty="0">
              <a:ln>
                <a:noFill/>
              </a:ln>
              <a:solidFill>
                <a:schemeClr val="tx1">
                  <a:lumMod val="75000"/>
                  <a:lumOff val="25000"/>
                </a:schemeClr>
              </a:solidFill>
              <a:effectLst/>
              <a:latin typeface="Arial" panose="020B0604020202090204" pitchFamily="34" charset="0"/>
            </a:endParaRPr>
          </a:p>
          <a:p>
            <a:pPr marL="292735" lvl="1" indent="0" eaLnBrk="0" fontAlgn="base" hangingPunct="0">
              <a:lnSpc>
                <a:spcPct val="100000"/>
              </a:lnSpc>
              <a:spcBef>
                <a:spcPct val="0"/>
              </a:spcBef>
              <a:spcAft>
                <a:spcPct val="0"/>
              </a:spcAft>
              <a:buClrTx/>
              <a:buNone/>
            </a:pPr>
            <a:endParaRPr kumimoji="0" lang="en-US" altLang="en-US"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r>
              <a:rPr kumimoji="0" lang="en-US" altLang="en-US" b="1" i="0" u="none" strike="noStrike" cap="none" normalizeH="0" baseline="0" dirty="0">
                <a:ln>
                  <a:noFill/>
                </a:ln>
                <a:solidFill>
                  <a:schemeClr val="tx1">
                    <a:lumMod val="75000"/>
                    <a:lumOff val="25000"/>
                  </a:schemeClr>
                </a:solidFill>
                <a:effectLst/>
                <a:latin typeface="Arial" panose="020B0604020202090204" pitchFamily="34" charset="0"/>
              </a:rPr>
              <a:t>Message Actions:</a:t>
            </a:r>
            <a:r>
              <a:rPr kumimoji="0" lang="en-US" altLang="en-US" b="0" i="0" u="none" strike="noStrike" cap="none" normalizeH="0" baseline="0" dirty="0">
                <a:ln>
                  <a:noFill/>
                </a:ln>
                <a:solidFill>
                  <a:schemeClr val="tx1">
                    <a:lumMod val="75000"/>
                    <a:lumOff val="25000"/>
                  </a:schemeClr>
                </a:solidFill>
                <a:effectLst/>
                <a:latin typeface="Arial" panose="020B0604020202090204" pitchFamily="34" charset="0"/>
              </a:rPr>
              <a:t> Enable message editing, deletion and reply functionality.</a:t>
            </a:r>
            <a:endParaRPr kumimoji="0" lang="en-US" altLang="en-US" b="0" i="0" u="none" strike="noStrike" cap="none" normalizeH="0" baseline="0" dirty="0">
              <a:ln>
                <a:noFill/>
              </a:ln>
              <a:solidFill>
                <a:schemeClr val="tx1">
                  <a:lumMod val="75000"/>
                  <a:lumOff val="25000"/>
                </a:schemeClr>
              </a:solidFill>
              <a:effectLst/>
              <a:latin typeface="Arial" panose="020B0604020202090204" pitchFamily="34" charset="0"/>
            </a:endParaRPr>
          </a:p>
          <a:p>
            <a:pPr marL="292735" lvl="1" indent="0" eaLnBrk="0" fontAlgn="base" hangingPunct="0">
              <a:lnSpc>
                <a:spcPct val="100000"/>
              </a:lnSpc>
              <a:spcBef>
                <a:spcPct val="0"/>
              </a:spcBef>
              <a:spcAft>
                <a:spcPct val="0"/>
              </a:spcAft>
              <a:buClrTx/>
              <a:buNone/>
            </a:pPr>
            <a:endParaRPr kumimoji="0" lang="en-US" altLang="en-US"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r>
              <a:rPr kumimoji="0" lang="en-US" altLang="en-US" b="1" i="0" u="none" strike="noStrike" cap="none" normalizeH="0" baseline="0" dirty="0">
                <a:ln>
                  <a:noFill/>
                </a:ln>
                <a:solidFill>
                  <a:schemeClr val="tx1">
                    <a:lumMod val="75000"/>
                    <a:lumOff val="25000"/>
                  </a:schemeClr>
                </a:solidFill>
                <a:effectLst/>
                <a:latin typeface="Arial" panose="020B0604020202090204" pitchFamily="34" charset="0"/>
              </a:rPr>
              <a:t>Custom Themes:</a:t>
            </a:r>
            <a:r>
              <a:rPr kumimoji="0" lang="en-US" altLang="en-US" b="0" i="0" u="none" strike="noStrike" cap="none" normalizeH="0" baseline="0" dirty="0">
                <a:ln>
                  <a:noFill/>
                </a:ln>
                <a:solidFill>
                  <a:schemeClr val="tx1">
                    <a:lumMod val="75000"/>
                    <a:lumOff val="25000"/>
                  </a:schemeClr>
                </a:solidFill>
                <a:effectLst/>
                <a:latin typeface="Arial" panose="020B0604020202090204" pitchFamily="34" charset="0"/>
              </a:rPr>
              <a:t> Customizable themes, including dark mode and chat personalization.</a:t>
            </a:r>
            <a:endParaRPr kumimoji="0" lang="en-US" altLang="en-US" b="0" i="0" u="none" strike="noStrike" cap="none" normalizeH="0" baseline="0" dirty="0">
              <a:ln>
                <a:noFill/>
              </a:ln>
              <a:solidFill>
                <a:schemeClr val="tx1">
                  <a:lumMod val="75000"/>
                  <a:lumOff val="25000"/>
                </a:schemeClr>
              </a:solidFill>
              <a:effectLst/>
              <a:latin typeface="Arial" panose="020B0604020202090204" pitchFamily="34" charset="0"/>
            </a:endParaRPr>
          </a:p>
          <a:p>
            <a:pPr marL="292735" lvl="1" indent="0" eaLnBrk="0" fontAlgn="base" hangingPunct="0">
              <a:lnSpc>
                <a:spcPct val="100000"/>
              </a:lnSpc>
              <a:spcBef>
                <a:spcPct val="0"/>
              </a:spcBef>
              <a:spcAft>
                <a:spcPct val="0"/>
              </a:spcAft>
              <a:buClrTx/>
              <a:buNone/>
            </a:pPr>
            <a:endParaRPr kumimoji="0" lang="en-US" altLang="en-US" b="0" i="0" u="none" strike="noStrike" cap="none" normalizeH="0" baseline="0" dirty="0">
              <a:ln>
                <a:noFill/>
              </a:ln>
              <a:solidFill>
                <a:schemeClr val="tx1">
                  <a:lumMod val="75000"/>
                  <a:lumOff val="25000"/>
                </a:schemeClr>
              </a:solidFill>
              <a:effectLst/>
              <a:latin typeface="Arial" panose="020B0604020202090204" pitchFamily="34" charset="0"/>
            </a:endParaRPr>
          </a:p>
          <a:p>
            <a:pPr marL="578485" lvl="1" indent="-285750" eaLnBrk="0" fontAlgn="base" hangingPunct="0">
              <a:lnSpc>
                <a:spcPct val="100000"/>
              </a:lnSpc>
              <a:spcBef>
                <a:spcPct val="0"/>
              </a:spcBef>
              <a:spcAft>
                <a:spcPct val="0"/>
              </a:spcAft>
              <a:buClrTx/>
              <a:buFont typeface="Arial" panose="020B0604020202090204" pitchFamily="34" charset="0"/>
              <a:buChar char="•"/>
            </a:pPr>
            <a:r>
              <a:rPr kumimoji="0" lang="en-US" altLang="en-US" b="1" i="0" u="none" strike="noStrike" cap="none" normalizeH="0" baseline="0" dirty="0">
                <a:ln>
                  <a:noFill/>
                </a:ln>
                <a:solidFill>
                  <a:schemeClr val="tx1">
                    <a:lumMod val="75000"/>
                    <a:lumOff val="25000"/>
                  </a:schemeClr>
                </a:solidFill>
                <a:effectLst/>
                <a:latin typeface="Arial" panose="020B0604020202090204" pitchFamily="34" charset="0"/>
              </a:rPr>
              <a:t>Pin and Archive:</a:t>
            </a:r>
            <a:r>
              <a:rPr kumimoji="0" lang="en-US" altLang="en-US" b="0" i="0" u="none" strike="noStrike" cap="none" normalizeH="0" baseline="0" dirty="0">
                <a:ln>
                  <a:noFill/>
                </a:ln>
                <a:solidFill>
                  <a:schemeClr val="tx1">
                    <a:lumMod val="75000"/>
                    <a:lumOff val="25000"/>
                  </a:schemeClr>
                </a:solidFill>
                <a:effectLst/>
                <a:latin typeface="Arial" panose="020B0604020202090204" pitchFamily="34" charset="0"/>
              </a:rPr>
              <a:t> Allow users to pin important chats and archive conversations.</a:t>
            </a:r>
            <a:endParaRPr kumimoji="0" lang="en-US" altLang="en-US" b="0" i="0" u="none" strike="noStrike" cap="none" normalizeH="0" baseline="0" dirty="0">
              <a:ln>
                <a:noFill/>
              </a:ln>
              <a:solidFill>
                <a:schemeClr val="tx1">
                  <a:lumMod val="75000"/>
                  <a:lumOff val="25000"/>
                </a:schemeClr>
              </a:solidFill>
              <a:effectLst/>
              <a:latin typeface="Arial" panose="020B0604020202090204" pitchFamily="34" charset="0"/>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Bibliography / References</a:t>
            </a:r>
            <a:endParaRPr lang="en-IN" dirty="0"/>
          </a:p>
        </p:txBody>
      </p:sp>
      <p:sp>
        <p:nvSpPr>
          <p:cNvPr id="3" name="Content Placeholder 2"/>
          <p:cNvSpPr>
            <a:spLocks noGrp="1"/>
          </p:cNvSpPr>
          <p:nvPr>
            <p:ph idx="1"/>
          </p:nvPr>
        </p:nvSpPr>
        <p:spPr>
          <a:xfrm>
            <a:off x="1226820" y="2217209"/>
            <a:ext cx="9799320" cy="2735791"/>
          </a:xfrm>
        </p:spPr>
        <p:txBody>
          <a:bodyPr>
            <a:normAutofit lnSpcReduction="20000"/>
          </a:bodyPr>
          <a:lstStyle/>
          <a:p>
            <a:pPr marL="578485" lvl="1" indent="-285750">
              <a:buFont typeface="Arial" panose="020B0604020202090204" pitchFamily="34" charset="0"/>
              <a:buChar char="•"/>
            </a:pPr>
            <a:r>
              <a:rPr lang="en-IN" sz="1800" b="1" dirty="0"/>
              <a:t>MongoDB:</a:t>
            </a:r>
            <a:r>
              <a:rPr lang="en-IN" sz="1800" dirty="0"/>
              <a:t> https://www.mongodb.com/</a:t>
            </a:r>
            <a:endParaRPr lang="en-IN" sz="1800" dirty="0"/>
          </a:p>
          <a:p>
            <a:pPr marL="292735" lvl="1" indent="0">
              <a:buNone/>
            </a:pPr>
            <a:endParaRPr lang="en-IN" sz="1800" dirty="0"/>
          </a:p>
          <a:p>
            <a:pPr marL="578485" lvl="1" indent="-285750">
              <a:buFont typeface="Arial" panose="020B0604020202090204" pitchFamily="34" charset="0"/>
              <a:buChar char="•"/>
            </a:pPr>
            <a:r>
              <a:rPr lang="en-IN" sz="1800" b="1" dirty="0"/>
              <a:t>Lucide Icons:</a:t>
            </a:r>
            <a:r>
              <a:rPr lang="en-IN" sz="1800" dirty="0"/>
              <a:t> https://lucide.dev/</a:t>
            </a:r>
            <a:endParaRPr lang="en-IN" sz="1800" dirty="0"/>
          </a:p>
          <a:p>
            <a:pPr marL="292735" lvl="1" indent="0">
              <a:buNone/>
            </a:pPr>
            <a:endParaRPr lang="en-IN" sz="1800" dirty="0"/>
          </a:p>
          <a:p>
            <a:pPr marL="578485" lvl="1" indent="-285750">
              <a:buFont typeface="Arial" panose="020B0604020202090204" pitchFamily="34" charset="0"/>
              <a:buChar char="•"/>
            </a:pPr>
            <a:r>
              <a:rPr lang="en-IN" sz="1800" b="1" dirty="0"/>
              <a:t>Tailwind CSS:</a:t>
            </a:r>
            <a:r>
              <a:rPr lang="en-IN" sz="1800" dirty="0"/>
              <a:t> https://tailwindcss.com/</a:t>
            </a:r>
            <a:endParaRPr lang="en-IN" sz="1800" dirty="0"/>
          </a:p>
          <a:p>
            <a:pPr marL="292735" lvl="1" indent="0">
              <a:buNone/>
            </a:pPr>
            <a:endParaRPr lang="en-IN" sz="1800" dirty="0"/>
          </a:p>
          <a:p>
            <a:pPr marL="578485" lvl="1" indent="-285750">
              <a:buFont typeface="Arial" panose="020B0604020202090204" pitchFamily="34" charset="0"/>
              <a:buChar char="•"/>
            </a:pPr>
            <a:r>
              <a:rPr lang="en-IN" sz="1800" b="1" dirty="0"/>
              <a:t>YouTube:</a:t>
            </a:r>
            <a:r>
              <a:rPr lang="en-IN" sz="1800" dirty="0"/>
              <a:t> https://www.youtube.com/</a:t>
            </a:r>
            <a:endParaRPr lang="en-IN" sz="1800" dirty="0"/>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r>
              <a:rPr lang="en-US" dirty="0"/>
              <a:t>Thank You</a:t>
            </a:r>
            <a:endParaRPr lang="en-IN" dirty="0"/>
          </a:p>
        </p:txBody>
      </p:sp>
    </p:spTree>
  </p:cSld>
  <p:clrMapOvr>
    <a:masterClrMapping/>
  </p:clrMapOvr>
</p:sld>
</file>

<file path=ppt/theme/theme1.xml><?xml version="1.0" encoding="utf-8"?>
<a:theme xmlns:a="http://schemas.openxmlformats.org/drawingml/2006/main" name="Retrospect">
  <a:themeElements>
    <a:clrScheme name="Custom 8">
      <a:dk1>
        <a:srgbClr val="0F0D29"/>
      </a:dk1>
      <a:lt1>
        <a:srgbClr val="FFFFFF"/>
      </a:lt1>
      <a:dk2>
        <a:srgbClr val="082A75"/>
      </a:dk2>
      <a:lt2>
        <a:srgbClr val="E7E6E6"/>
      </a:lt2>
      <a:accent1>
        <a:srgbClr val="024F75"/>
      </a:accent1>
      <a:accent2>
        <a:srgbClr val="3592CF"/>
      </a:accent2>
      <a:accent3>
        <a:srgbClr val="34ABA2"/>
      </a:accent3>
      <a:accent4>
        <a:srgbClr val="66B2CA"/>
      </a:accent4>
      <a:accent5>
        <a:srgbClr val="E0EFF4"/>
      </a:accent5>
      <a:accent6>
        <a:srgbClr val="34ABA2"/>
      </a:accent6>
      <a:hlink>
        <a:srgbClr val="3592CF"/>
      </a:hlink>
      <a:folHlink>
        <a:srgbClr val="3592CF"/>
      </a:folHlink>
    </a:clrScheme>
    <a:fontScheme name="Custom 2">
      <a:majorFont>
        <a:latin typeface="Century Gothic"/>
        <a:ea typeface=""/>
        <a:cs typeface=""/>
      </a:majorFont>
      <a:minorFont>
        <a:latin typeface="Lucida Sans"/>
        <a:ea typeface=""/>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ma:contentTypeScope="" ct:_="" ma:_="" ma:contentTypeVersion="24" ma:contentTypeDescription="Create a new document." ma:contentTypeID="0x01010079F111ED35F8CC479449609E8A0923A6" ma:versionID="2d714a3296df14eba7a100bb665443ca" ma:contentTypeName="Document">
  <xsd:schema xmlns:p="http://schemas.microsoft.com/office/2006/metadata/properties" xmlns:xs="http://www.w3.org/2001/XMLSchema" xmlns:ns1="http://schemas.microsoft.com/sharepoint/v3" xmlns:ns2="71af3243-3dd4-4a8d-8c0d-dd76da1f02a5" xmlns:ns3="16c05727-aa75-4e4a-9b5f-8a80a1165891" xmlns:ns4="230e9df3-be65-4c73-a93b-d1236ebd677e" xmlns:xsd="http://www.w3.org/2001/XMLSchema" ma:fieldsID="49549bf45bfbbfb6cffed527380e77e1" ma:root="true" ns2:_="" ns4:_="" targetNamespace="http://schemas.microsoft.com/office/2006/metadata/properties" ns1:_="" ns3: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minOccurs="0" ref="ns2:Status"/>
                <xsd:element minOccurs="0" ref="ns2:Image"/>
                <xsd:element minOccurs="0" ref="ns2:MediaServiceMetadata"/>
                <xsd:element minOccurs="0" ref="ns2:MediaServiceFastMetadata"/>
                <xsd:element minOccurs="0" ref="ns2:MediaServiceOCR"/>
                <xsd:element minOccurs="0" ref="ns2:MediaServiceAutoTags"/>
                <xsd:element minOccurs="0" ref="ns2:MediaServiceEventHashCode"/>
                <xsd:element minOccurs="0" ref="ns2:MediaServiceGenerationTime"/>
                <xsd:element minOccurs="0" ref="ns3:SharedWithUsers"/>
                <xsd:element minOccurs="0" ref="ns3:SharedWithDetails"/>
                <xsd:element minOccurs="0" ref="ns2:MediaServiceAutoKeyPoints"/>
                <xsd:element minOccurs="0" ref="ns2:MediaServiceKeyPoints"/>
                <xsd:element minOccurs="0" ref="ns2:MediaServiceDateTaken"/>
                <xsd:element minOccurs="0" ref="ns1:_ip_UnifiedCompliancePolicyProperties"/>
                <xsd:element minOccurs="0" ref="ns1:_ip_UnifiedCompliancePolicyUIAction"/>
                <xsd:element minOccurs="0" ref="ns4:TaxCatchAll"/>
                <xsd:element minOccurs="0" ref="ns2:ImageTagsTaxHTField"/>
                <xsd:element minOccurs="0" ref="ns2:MediaServiceLocation"/>
                <xsd:element minOccurs="0" ref="ns2:MediaLengthInSeconds"/>
                <xsd:element minOccurs="0" ref="ns2:Background"/>
              </xsd:all>
            </xsd:complexType>
          </xsd:element>
        </xsd:sequence>
      </xsd:complexType>
    </xsd:element>
  </xsd:schema>
  <xsd:schema xmlns:xs="http://www.w3.org/2001/XMLSchema" xmlns:dms="http://schemas.microsoft.com/office/2006/documentManagement/types" xmlns:pc="http://schemas.microsoft.com/office/infopath/2007/PartnerControls" xmlns:xsd="http://www.w3.org/2001/XMLSchema" targetNamespace="http://schemas.microsoft.com/sharepoint/v3" elementFormDefault="qualified">
    <xsd:import namespace="http://schemas.microsoft.com/office/2006/documentManagement/types"/>
    <xsd:import namespace="http://schemas.microsoft.com/office/infopath/2007/PartnerControls"/>
    <xsd:element ma:readOnly="false" ma:internalName="_ip_UnifiedCompliancePolicyProperties" nillable="true" ma:displayName="Unified Compliance Policy Properties" ma:index="20" ma:hidden="true" name="_ip_UnifiedCompliancePolicyProperties">
      <xsd:simpleType>
        <xsd:restriction base="dms:Note"/>
      </xsd:simpleType>
    </xsd:element>
    <xsd:element ma:readOnly="false" ma:internalName="_ip_UnifiedCompliancePolicyUIAction" nillable="true" ma:displayName="Unified Compliance Policy UI Action" ma:index="21" ma:hidden="true" name="_ip_UnifiedCompliancePolicyUIAction">
      <xsd:simpleType>
        <xsd:restriction base="dms:Text"/>
      </xsd:simpleType>
    </xsd:element>
  </xsd:schema>
  <xsd:schema xmlns:xs="http://www.w3.org/2001/XMLSchema" xmlns:dms="http://schemas.microsoft.com/office/2006/documentManagement/types" xmlns:pc="http://schemas.microsoft.com/office/infopath/2007/PartnerControls" xmlns:xsd="http://www.w3.org/2001/XMLSchema" targetNamespace="71af3243-3dd4-4a8d-8c0d-dd76da1f02a5" elementFormDefault="qualified">
    <xsd:import namespace="http://schemas.microsoft.com/office/2006/documentManagement/types"/>
    <xsd:import namespace="http://schemas.microsoft.com/office/infopath/2007/PartnerControls"/>
    <xsd:element ma:readOnly="false" ma:default="Not started" ma:internalName="Status" nillable="true" ma:displayName="Status" ma:format="Dropdown" ma:index="2" name="Status">
      <xsd:simpleType>
        <xsd:restriction base="dms:Choice">
          <xsd:enumeration value="Not started"/>
          <xsd:enumeration value="In Progress"/>
          <xsd:enumeration value="Completed"/>
        </xsd:restriction>
      </xsd:simpleType>
    </xsd:element>
    <xsd:element ma:readOnly="false" ma:internalName="Image" nillable="true" ma:displayName="Image" ma:format="Image" ma:index="3" name="Image">
      <xsd:complexType>
        <xsd:complexContent>
          <xsd:extension base="dms:URL">
            <xsd:sequence>
              <xsd:element minOccurs="0" nillable="true" type="dms:ValidUrl" name="Url"/>
              <xsd:element nillable="true" type="xsd:string" name="Description"/>
            </xsd:sequence>
          </xsd:extension>
        </xsd:complexContent>
      </xsd:complexType>
    </xsd:element>
    <xsd:element ma:readOnly="true" ma:internalName="MediaServiceMetadata" nillable="true" ma:displayName="MediaServiceMetadata" ma:index="8" ma:hidden="true" name="MediaServiceMetadata">
      <xsd:simpleType>
        <xsd:restriction base="dms:Note"/>
      </xsd:simpleType>
    </xsd:element>
    <xsd:element ma:readOnly="true" ma:internalName="MediaServiceFastMetadata" nillable="true" ma:displayName="MediaServiceFastMetadata" ma:index="9" ma:hidden="true" name="MediaServiceFastMetadata">
      <xsd:simpleType>
        <xsd:restriction base="dms:Note"/>
      </xsd:simpleType>
    </xsd:element>
    <xsd:element ma:readOnly="true" ma:internalName="MediaServiceOCR" nillable="true" ma:displayName="MediaServiceOCR" ma:index="10" ma:hidden="true" name="MediaServiceOCR">
      <xsd:simpleType>
        <xsd:restriction base="dms:Note"/>
      </xsd:simpleType>
    </xsd:element>
    <xsd:element ma:readOnly="true" ma:internalName="MediaServiceAutoTags" nillable="true" ma:displayName="MediaServiceAutoTags" ma:index="11" ma:hidden="true" name="MediaServiceAutoTags">
      <xsd:simpleType>
        <xsd:restriction base="dms:Text"/>
      </xsd:simpleType>
    </xsd:element>
    <xsd:element ma:readOnly="true" ma:internalName="MediaServiceEventHashCode" nillable="true" ma:displayName="MediaServiceEventHashCode" ma:index="12" ma:hidden="true" name="MediaServiceEventHashCode">
      <xsd:simpleType>
        <xsd:restriction base="dms:Text"/>
      </xsd:simpleType>
    </xsd:element>
    <xsd:element ma:readOnly="true" ma:internalName="MediaServiceGenerationTime" nillable="true" ma:displayName="MediaServiceGenerationTime" ma:index="13" ma:hidden="true" name="MediaServiceGenerationTime">
      <xsd:simpleType>
        <xsd:restriction base="dms:Text"/>
      </xsd:simpleType>
    </xsd:element>
    <xsd:element ma:readOnly="true" ma:internalName="MediaServiceAutoKeyPoints" nillable="true" ma:displayName="MediaServiceAutoKeyPoints" ma:index="16" ma:hidden="true" name="MediaServiceAutoKeyPoints">
      <xsd:simpleType>
        <xsd:restriction base="dms:Note"/>
      </xsd:simpleType>
    </xsd:element>
    <xsd:element ma:readOnly="false" ma:internalName="MediaServiceKeyPoints" nillable="true" ma:displayName="KeyPoints" ma:index="17" ma:hidden="true" name="MediaServiceKeyPoints">
      <xsd:simpleType>
        <xsd:restriction base="dms:Note"/>
      </xsd:simpleType>
    </xsd:element>
    <xsd:element ma:readOnly="true" ma:internalName="MediaServiceDateTaken" nillable="true" ma:displayName="MediaServiceDateTaken" ma:index="18" ma:hidden="true" name="MediaServiceDateTaken">
      <xsd:simpleType>
        <xsd:restriction base="dms:Text"/>
      </xsd:simpleType>
    </xsd:element>
    <xsd:element ma:anchorId="fba54fb3-c3e1-fe81-a776-ca4b69148c4d" ma:taxonomyFieldName="MediaServiceImageTags" ma:readOnly="false" ma:isKeyword="false" ma:termSetId="09814cd3-568e-fe90-9814-8d621ff8fb84" ma:internalName="ImageTagsTaxHTField" nillable="true" ma:taxonomy="true" ma:displayName="Image Tags" ma:sspId="e385fb40-52d4-4fae-9c5b-3e8ff8a5878e" ma:index="25" ma:fieldId="{5cf76f15-5ced-4ddc-b409-7134ff3c332f}" ma:open="true" ma:taxonomyMulti="true" name="ImageTagsTaxHTField">
      <xsd:complexType>
        <xsd:sequence>
          <xsd:element maxOccurs="1" minOccurs="0" ref="pc:Terms"/>
        </xsd:sequence>
      </xsd:complexType>
    </xsd:element>
    <xsd:element ma:readOnly="true" ma:internalName="MediaServiceLocation" nillable="true" ma:displayName="Location" ma:index="26" ma:hidden="true" name="MediaServiceLocation">
      <xsd:simpleType>
        <xsd:restriction base="dms:Text"/>
      </xsd:simpleType>
    </xsd:element>
    <xsd:element ma:readOnly="true" ma:internalName="MediaLengthInSeconds" nillable="true" ma:displayName="MediaLengthInSeconds" ma:index="27" ma:hidden="true" name="MediaLengthInSeconds">
      <xsd:simpleType>
        <xsd:restriction base="dms:Unknown"/>
      </xsd:simpleType>
    </xsd:element>
    <xsd:element ma:default="0" ma:internalName="Background" nillable="true" ma:displayName="Background" ma:format="Dropdown" ma:index="28" name="Background">
      <xsd:simpleType>
        <xsd:restriction base="dms:Boolean"/>
      </xsd:simpleType>
    </xsd:element>
  </xsd:schema>
  <xsd:schema xmlns:xs="http://www.w3.org/2001/XMLSchema" xmlns:dms="http://schemas.microsoft.com/office/2006/documentManagement/types" xmlns:pc="http://schemas.microsoft.com/office/infopath/2007/PartnerControls" xmlns:xsd="http://www.w3.org/2001/XMLSchema" targetNamespace="16c05727-aa75-4e4a-9b5f-8a80a1165891" elementFormDefault="qualified">
    <xsd:import namespace="http://schemas.microsoft.com/office/2006/documentManagement/types"/>
    <xsd:import namespace="http://schemas.microsoft.com/office/infopath/2007/PartnerControls"/>
    <xsd:element ma:readOnly="true" ma:internalName="SharedWithUsers" nillable="true" ma:displayName="Shared With" ma:index="14" ma:hidden="true" name="SharedWithUsers">
      <xsd:complexType>
        <xsd:complexContent>
          <xsd:extension base="dms:UserMulti">
            <xsd:sequence>
              <xsd:element maxOccurs="unbounded" minOccurs="0" name="UserInfo">
                <xsd:complexType>
                  <xsd:sequence>
                    <xsd:element minOccurs="0" type="xsd:string" name="DisplayName"/>
                    <xsd:element minOccurs="0" nillable="true" type="dms:UserId" name="AccountId"/>
                    <xsd:element minOccurs="0" type="xsd:string" name="AccountType"/>
                  </xsd:sequence>
                </xsd:complexType>
              </xsd:element>
            </xsd:sequence>
          </xsd:extension>
        </xsd:complexContent>
      </xsd:complexType>
    </xsd:element>
    <xsd:element ma:readOnly="true" ma:internalName="SharedWithDetails" nillable="true" ma:displayName="Shared With Details" ma:index="15" ma:hidden="true" name="SharedWithDetails">
      <xsd:simpleType>
        <xsd:restriction base="dms:Note"/>
      </xsd:simpleType>
    </xsd:element>
  </xsd:schema>
  <xsd:schema xmlns:xs="http://www.w3.org/2001/XMLSchema" xmlns:dms="http://schemas.microsoft.com/office/2006/documentManagement/types" xmlns:pc="http://schemas.microsoft.com/office/infopath/2007/PartnerControls" xmlns:xsd="http://www.w3.org/2001/XMLSchema" targetNamespace="230e9df3-be65-4c73-a93b-d1236ebd677e" elementFormDefault="qualified">
    <xsd:import namespace="http://schemas.microsoft.com/office/2006/documentManagement/types"/>
    <xsd:import namespace="http://schemas.microsoft.com/office/infopath/2007/PartnerControls"/>
    <xsd:element ma:readOnly="false" ma:internalName="TaxCatchAll" nillable="true" ma:displayName="Taxonomy Catch All Column" ma:web="16c05727-aa75-4e4a-9b5f-8a80a1165891" ma:index="23" ma:hidden="true" ma:list="{3f6bfcbc-3db3-4ae6-bd76-326f0798ad28}" ma:showField="CatchAllData" name="TaxCatchAll">
      <xsd:complexType>
        <xsd:complexContent>
          <xsd:extension base="dms:MultiChoiceLookup">
            <xsd:sequence>
              <xsd:element maxOccurs="unbounded" minOccurs="0" nillable="true" type="dms:Lookup" name="Value"/>
            </xsd:sequence>
          </xsd:extension>
        </xsd:complexContent>
      </xsd:complexType>
    </xsd:element>
  </xsd:schema>
  <xsd:schema xmlns:dcterms="http://purl.org/dc/terms/" xmlns:odoc="http://schemas.microsoft.com/internal/obd" xmlns="http://schemas.openxmlformats.org/package/2006/metadata/core-properties" xmlns:xsi="http://www.w3.org/2001/XMLSchema-instance" xmlns:dc="http://purl.org/dc/elements/1.1/" xmlns:xsd="http://www.w3.org/2001/XMLSchema" blockDefault="#all" targetNamespace="http://schemas.openxmlformats.org/package/2006/metadata/core-properties" attributeFormDefault="unqualified" elementFormDefault="qualified">
    <xsd:import namespace="http://purl.org/dc/elements/1.1/" schemaLocation="http://dublincore.org/schemas/xmls/qdc/2003/04/02/dc.xsd"/>
    <xsd:import namespace="http://purl.org/dc/terms/" schemaLocation="http://dublincore.org/schemas/xmls/qdc/2003/04/02/dcterms.xsd"/>
    <xsd:element type="CT_coreProperties" name="coreProperties"/>
    <xsd:complexType name="CT_coreProperties">
      <xsd:all>
        <xsd:element maxOccurs="1" minOccurs="0" ref="dc:creator"/>
        <xsd:element maxOccurs="1" minOccurs="0" ref="dcterms:created"/>
        <xsd:element maxOccurs="1" minOccurs="0" ref="dc:identifier"/>
        <xsd:element maxOccurs="1" minOccurs="0" ma:displayName="Content Type" type="xsd:string" name="contentType"/>
        <xsd:element maxOccurs="1" minOccurs="0" ma:displayName="Title" ma:index="1" ref="dc:title"/>
        <xsd:element maxOccurs="1" minOccurs="0" ref="dc:subject"/>
        <xsd:element maxOccurs="1" minOccurs="0" ref="dc:description"/>
        <xsd:element maxOccurs="1" minOccurs="0" type="xsd:string" name="keywords"/>
        <xsd:element maxOccurs="1" minOccurs="0" ref="dc:language"/>
        <xsd:element maxOccurs="1" minOccurs="0" type="xsd:string" name="category"/>
        <xsd:element maxOccurs="1" minOccurs="0" type="xsd:string" name="version"/>
        <xsd:element maxOccurs="1" minOccurs="0" type="xsd:string" name="revision">
          <xsd:annotation>
            <xsd:documentation>
                        This value indicates the number of saves or revisions. The application is responsible for updating this value after each revision.
                    </xsd:documentation>
          </xsd:annotation>
        </xsd:element>
        <xsd:element maxOccurs="1" minOccurs="0" type="xsd:string" name="lastModifiedBy"/>
        <xsd:element maxOccurs="1" minOccurs="0" ref="dcterms:modified"/>
        <xsd:element maxOccurs="1" minOccurs="0" type="xsd:string" name="contentStatus"/>
      </xsd:all>
    </xsd:complexType>
  </xsd:schema>
  <xs:schema xmlns:xs="http://www.w3.org/2001/XMLSchema" xmlns:pc="http://schemas.microsoft.com/office/infopath/2007/PartnerControls" targetNamespace="http://schemas.microsoft.com/office/infopath/2007/PartnerControls" attributeFormDefault="unqualified" elementFormDefault="qualified">
    <xs:element name="Person">
      <xs:complexType>
        <xs:sequence>
          <xs:element minOccurs="0" ref="pc:DisplayName"/>
          <xs:element minOccurs="0" ref="pc:AccountId"/>
          <xs:element minOccurs="0" ref="pc:AccountType"/>
        </xs:sequence>
      </xs:complexType>
    </xs:element>
    <xs:element type="xs:string" name="DisplayName"/>
    <xs:element type="xs:string" name="AccountId"/>
    <xs:element type="xs:string" name="AccountType"/>
    <xs:element name="BDCAssociatedEntity">
      <xs:complexType>
        <xs:sequence>
          <xs:element maxOccurs="unbounded" minOccurs="0" ref="pc:BDCEntity"/>
        </xs:sequence>
        <xs:attribute ref="pc:EntityNamespace"/>
        <xs:attribute ref="pc:EntityName"/>
        <xs:attribute ref="pc:SystemInstanceName"/>
        <xs:attribute ref="pc:AssociationName"/>
      </xs:complexType>
    </xs:element>
    <xs:attribute type="xs:string" name="EntityNamespace"/>
    <xs:attribute type="xs:string" name="EntityName"/>
    <xs:attribute type="xs:string" name="SystemInstanceName"/>
    <xs:attribute type="xs:string" name="AssociationName"/>
    <xs:element name="BDCEntity">
      <xs:complexType>
        <xs:sequence>
          <xs:element minOccurs="0" ref="pc:EntityDisplayName"/>
          <xs:element minOccurs="0" ref="pc:EntityInstanceReference"/>
          <xs:element minOccurs="0" ref="pc:EntityId1"/>
          <xs:element minOccurs="0" ref="pc:EntityId2"/>
          <xs:element minOccurs="0" ref="pc:EntityId3"/>
          <xs:element minOccurs="0" ref="pc:EntityId4"/>
          <xs:element minOccurs="0" ref="pc:EntityId5"/>
        </xs:sequence>
      </xs:complexType>
    </xs:element>
    <xs:element type="xs:string" name="EntityDisplayName"/>
    <xs:element type="xs:string" name="EntityInstanceReference"/>
    <xs:element type="xs:string" name="EntityId1"/>
    <xs:element type="xs:string" name="EntityId2"/>
    <xs:element type="xs:string" name="EntityId3"/>
    <xs:element type="xs:string" name="EntityId4"/>
    <xs:element type="xs:string" name="EntityId5"/>
    <xs:element name="Terms">
      <xs:complexType>
        <xs:sequence>
          <xs:element maxOccurs="unbounded" minOccurs="0" ref="pc:TermInfo"/>
        </xs:sequence>
      </xs:complexType>
    </xs:element>
    <xs:element name="TermInfo">
      <xs:complexType>
        <xs:sequence>
          <xs:element minOccurs="0" ref="pc:TermName"/>
          <xs:element minOccurs="0" ref="pc:TermId"/>
        </xs:sequence>
      </xs:complexType>
    </xs:element>
    <xs:element type="xs:string" name="TermName"/>
    <xs:element type="xs:string" name="TermId"/>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78D4D99-8A00-4AF3-870C-951CFCBBB15C}">
  <ds:schemaRefs/>
</ds:datastoreItem>
</file>

<file path=customXml/itemProps2.xml><?xml version="1.0" encoding="utf-8"?>
<ds:datastoreItem xmlns:ds="http://schemas.openxmlformats.org/officeDocument/2006/customXml" ds:itemID="{EA7292D2-F2DF-4CCD-907A-872557A22F14}">
  <ds:schemaRefs/>
</ds:datastoreItem>
</file>

<file path=customXml/itemProps3.xml><?xml version="1.0" encoding="utf-8"?>
<ds:datastoreItem xmlns:ds="http://schemas.openxmlformats.org/officeDocument/2006/customXml" ds:itemID="{91A3B03E-652D-4D8F-863F-26347F2C84A4}">
  <ds:schemaRefs/>
</ds:datastoreItem>
</file>

<file path=docProps/app.xml><?xml version="1.0" encoding="utf-8"?>
<Properties xmlns="http://schemas.openxmlformats.org/officeDocument/2006/extended-properties" xmlns:vt="http://schemas.openxmlformats.org/officeDocument/2006/docPropsVTypes">
  <Template>Family tree chart (horizontal, green, white, widescreen)</Template>
  <TotalTime>0</TotalTime>
  <Words>6252</Words>
  <Application>WPS Writer</Application>
  <PresentationFormat>Widescreen</PresentationFormat>
  <Paragraphs>307</Paragraphs>
  <Slides>24</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24</vt:i4>
      </vt:variant>
    </vt:vector>
  </HeadingPairs>
  <TitlesOfParts>
    <vt:vector size="40" baseType="lpstr">
      <vt:lpstr>Arial</vt:lpstr>
      <vt:lpstr>SimSun</vt:lpstr>
      <vt:lpstr>Wingdings</vt:lpstr>
      <vt:lpstr>Calibri</vt:lpstr>
      <vt:lpstr>Helvetica Neue</vt:lpstr>
      <vt:lpstr>Times New Roman Regular</vt:lpstr>
      <vt:lpstr>Times New Roman</vt:lpstr>
      <vt:lpstr>Century Gothic</vt:lpstr>
      <vt:lpstr>苹方-简</vt:lpstr>
      <vt:lpstr>Lucida Sans</vt:lpstr>
      <vt:lpstr>Microsoft YaHei</vt:lpstr>
      <vt:lpstr>汉仪旗黑</vt:lpstr>
      <vt:lpstr>Arial Unicode MS</vt:lpstr>
      <vt:lpstr>Wingdings</vt:lpstr>
      <vt:lpstr>Times New Roman</vt:lpstr>
      <vt:lpstr>Retrospect</vt:lpstr>
      <vt:lpstr>Health Monitoring and Prediction System</vt:lpstr>
      <vt:lpstr>Topics </vt:lpstr>
      <vt:lpstr>Project Profile </vt:lpstr>
      <vt:lpstr>Introduction</vt:lpstr>
      <vt:lpstr>System Features</vt:lpstr>
      <vt:lpstr>Key Technologies </vt:lpstr>
      <vt:lpstr>System Study</vt:lpstr>
      <vt:lpstr>System Study</vt:lpstr>
      <vt:lpstr>System Study</vt:lpstr>
      <vt:lpstr>System Study</vt:lpstr>
      <vt:lpstr>System Architecture &amp; Workflow</vt:lpstr>
      <vt:lpstr>System Analysis</vt:lpstr>
      <vt:lpstr>System Analysis</vt:lpstr>
      <vt:lpstr>System Analysis</vt:lpstr>
      <vt:lpstr>Data Dictionary</vt:lpstr>
      <vt:lpstr>Data Dictionary</vt:lpstr>
      <vt:lpstr>Screen Layout</vt:lpstr>
      <vt:lpstr>Screen Layout</vt:lpstr>
      <vt:lpstr>Screen Layout</vt:lpstr>
      <vt:lpstr>Screen Layout</vt:lpstr>
      <vt:lpstr>Screen Layout</vt:lpstr>
      <vt:lpstr>Screen Layout</vt:lpstr>
      <vt:lpstr>Future Enhancement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Diya Kansagara</dc:creator>
  <cp:lastModifiedBy>sahil maniya</cp:lastModifiedBy>
  <cp:revision>67</cp:revision>
  <dcterms:created xsi:type="dcterms:W3CDTF">2025-04-03T15:20:11Z</dcterms:created>
  <dcterms:modified xsi:type="dcterms:W3CDTF">2025-04-03T15:20:11Z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3A1D0822AA2D2C53A5FAED670E63971C_42</vt:lpwstr>
  </property>
  <property fmtid="{D5CDD505-2E9C-101B-9397-08002B2CF9AE}" pid="4" name="KSOProductBuildVer">
    <vt:lpwstr>1033-6.12.2.8699</vt:lpwstr>
  </property>
</Properties>
</file>